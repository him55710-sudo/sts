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pPr indent="0" marL="0">
              <a:buNone/>
            </a:pPr>
            <a:r>
              <a:rPr lang="en-US" sz="4800" b="1" spc="4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사진과 영상 속 상품을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찾아 바로 구매로 연결합니다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콘텐츠에서 발견한 그 상품을, 검색 없이 화면에서 바로 삽니다.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크리에이터의 콘텐츠 위에 얹는 쇼핑 연결 레이어.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52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754880" y="777240"/>
            <a:ext cx="3931920" cy="5303520"/>
          </a:xfrm>
          <a:prstGeom prst="roundRect">
            <a:avLst>
              <a:gd name="adj" fmla="val 418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pic>
        <p:nvPicPr>
          <p:cNvPr id="8" name="Image 0" descr="img/hero_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463040"/>
            <a:ext cx="3474720" cy="34747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83480" y="10515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서비스 화면  ·  @edit.eunseo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6692000" y="3000604"/>
            <a:ext cx="-62600" cy="2120036"/>
          </a:xfrm>
          <a:prstGeom prst="line">
            <a:avLst/>
          </a:prstGeom>
          <a:noFill/>
          <a:ln w="12700">
            <a:solidFill>
              <a:srgbClr val="FF2D78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806440" y="51206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12" name="Image 1" descr="img/thumb_shi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5230368"/>
            <a:ext cx="603504" cy="6035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47688" y="52395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POLO RALPH LAUREN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6647688" y="54132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클래식 핏 옥스포드 셔츠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647688" y="56235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₩198,000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379208" y="5641848"/>
            <a:ext cx="457200" cy="15544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79208" y="564184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EXACT</a:t>
            </a:r>
            <a:endParaRPr lang="en-US" sz="600" dirty="0"/>
          </a:p>
        </p:txBody>
      </p:sp>
      <p:sp>
        <p:nvSpPr>
          <p:cNvPr id="18" name="Text 14"/>
          <p:cNvSpPr txBox="1"/>
          <p:nvPr/>
        </p:nvSpPr>
        <p:spPr>
          <a:xfrm>
            <a:off x="7882128" y="56327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 similar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21" name="Text 17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IT. TAP IT. SHOP IT.</a:t>
            </a:r>
            <a:endParaRPr lang="en-US" sz="7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INVESTMENT THESIS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사람들은 SNS에서 상품을 발견하지만,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구매는 아직도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검색에서 시작됩니다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인식하고, 세분화·매칭해 본 적 있는 그 상품을 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발견(Discovery)은 이미 콘텐츠 안에서 일어납니다. 문제는 “무엇을 샀는가”가 아니라 </a:t>
            </a:r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장면의 어떤 객체가 구매 의도를 만들었는가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아무도 구조화하지 못한다는 것입니다. 그래서 사용자는 화면을 벗어나 검색창으로 갑니다.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77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STS가 화면 위에서 해답을 줍니다. 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객체를 인식하고 상품으로 연결해, 발견에서 구매까지의 단계를 한 번에 만듭니다. 그 과정에서 “장면·상품·구매” 데이터가 쌓입니다.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46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3단계로 연결되는 구매 여정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303520"/>
            <a:ext cx="146304" cy="14630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9436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 인식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965960" y="55321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14884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8600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5303520"/>
            <a:ext cx="146304" cy="14630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228600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카드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228600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매칭된 상품 정보 제공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3657600" y="55321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384048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97764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5303520"/>
            <a:ext cx="146304" cy="14630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7764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397764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715000" y="1783080"/>
            <a:ext cx="2971800" cy="4370832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989320" y="20116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비주얼 검색 규모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5989320" y="22677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200억 회</a:t>
            </a:r>
            <a:endParaRPr lang="en-US" sz="2400" dirty="0"/>
          </a:p>
        </p:txBody>
      </p:sp>
      <p:sp>
        <p:nvSpPr>
          <p:cNvPr id="35" name="Text 30"/>
          <p:cNvSpPr txBox="1"/>
          <p:nvPr/>
        </p:nvSpPr>
        <p:spPr>
          <a:xfrm>
            <a:off x="5989320" y="2816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렌즈 비주얼 검색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989320" y="3200400"/>
            <a:ext cx="24231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989320" y="3429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의도 비중</a:t>
            </a:r>
            <a:endParaRPr lang="en-US" sz="750" dirty="0"/>
          </a:p>
        </p:txBody>
      </p:sp>
      <p:sp>
        <p:nvSpPr>
          <p:cNvPr id="38" name="Text 33"/>
          <p:cNvSpPr txBox="1"/>
          <p:nvPr/>
        </p:nvSpPr>
        <p:spPr>
          <a:xfrm>
            <a:off x="598932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20%</a:t>
            </a:r>
            <a:endParaRPr lang="en-US" sz="2400" dirty="0"/>
          </a:p>
        </p:txBody>
      </p:sp>
      <p:sp>
        <p:nvSpPr>
          <p:cNvPr id="39" name="Text 34"/>
          <p:cNvSpPr txBox="1"/>
          <p:nvPr/>
        </p:nvSpPr>
        <p:spPr>
          <a:xfrm>
            <a:off x="598932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관련 검색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5989320" y="4617720"/>
            <a:ext cx="24231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9320" y="48463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사용자 경험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5989320" y="5102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연결</a:t>
            </a:r>
            <a:endParaRPr lang="en-US" sz="2400" dirty="0"/>
          </a:p>
        </p:txBody>
      </p:sp>
      <p:sp>
        <p:nvSpPr>
          <p:cNvPr id="43" name="Text 38"/>
          <p:cNvSpPr txBox="1"/>
          <p:nvPr/>
        </p:nvSpPr>
        <p:spPr>
          <a:xfrm>
            <a:off x="5989320" y="5650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객체 인식 → 상품 매칭 → 구매 연결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없다는 것이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보고 사고 싶어도, 결국 검색과 비교의 번거로운 과정을 다시 거쳐야 합니다. 세 주체 모두 같은 지점에서 막힙니다.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2316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만든 후, 링크를 찾고 붙이는 데 시간과 노력이 듭니다.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링크를 일일이 찾고, 복사하고, 콘텐츠에 첨부하는 과정이 반복됩니다.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8580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79392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9611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창작에 집중하기 어렵습니다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324612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47472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182880" cy="182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47472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쇼퍼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347472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영상이나 사진에서 본 상품을 사고 싶어도, 다시 검색해야 찾을 수 있습니다.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347472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 의존해 키워드를 입력하고, 비슷한 상품을 비교해야 합니다.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347472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4279392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68503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 싶은 타이밍을 놓칩니다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603504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26364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423160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26364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626364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중 어떤 상품이 구매로 이어졌는지 정확히 알 수 없습니다.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626364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성과의 원인을 파악하기 어려워, 마케팅 효율을 높이기 힘듭니다.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626364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279392"/>
            <a:ext cx="146304" cy="14630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47395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 의사결정이 어렵습니다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457200" y="484632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85800" y="5029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</a:t>
            </a:r>
            <a:endParaRPr lang="en-US" sz="750" dirty="0"/>
          </a:p>
        </p:txBody>
      </p:sp>
      <p:sp>
        <p:nvSpPr>
          <p:cNvPr id="39" name="Text 31"/>
          <p:cNvSpPr txBox="1"/>
          <p:nvPr/>
        </p:nvSpPr>
        <p:spPr>
          <a:xfrm>
            <a:off x="68580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· 상품 카드 · 검색창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685800" y="5577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밖으로 나가 여러 단계를 거쳐야 하는 불편한 쇼핑 경험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>
            <a:off x="4462272" y="53949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4709160" y="484632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937760" y="5029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5257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 바로 누르는 쇼핑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937760" y="5577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보던 흐름 그대로, 원하는 상품을 화면 위에서 즉시 구매</a:t>
            </a:r>
            <a:endParaRPr lang="en-US" sz="800" dirty="0"/>
          </a:p>
        </p:txBody>
      </p:sp>
      <p:pic>
        <p:nvPicPr>
          <p:cNvPr id="46" name="Image 6" descr="img/screen_po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1232" y="4919472"/>
            <a:ext cx="1051560" cy="1179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사진과 영상 속 상품을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있게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만듭니다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사진이나 영상 속 원하는 상품을 터치하면, 가장 정확한 상품을 찾아 구매까지 연결합니다.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1168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30352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업로드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30352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또는 영상 업로드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719072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856232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65960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201168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929384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929384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상품 탐지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3118104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255264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364992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0116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328416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3328416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 구분</a:t>
            </a:r>
            <a:endParaRPr lang="en-US" sz="700" dirty="0"/>
          </a:p>
        </p:txBody>
      </p:sp>
      <p:sp>
        <p:nvSpPr>
          <p:cNvPr id="27" name="Text 22"/>
          <p:cNvSpPr txBox="1"/>
          <p:nvPr/>
        </p:nvSpPr>
        <p:spPr>
          <a:xfrm>
            <a:off x="4517136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4654296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764024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201168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727448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4727448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상품과 매칭</a:t>
            </a:r>
            <a:endParaRPr lang="en-US" sz="700" dirty="0"/>
          </a:p>
        </p:txBody>
      </p:sp>
      <p:sp>
        <p:nvSpPr>
          <p:cNvPr id="33" name="Text 27"/>
          <p:cNvSpPr txBox="1"/>
          <p:nvPr/>
        </p:nvSpPr>
        <p:spPr>
          <a:xfrm>
            <a:off x="5916168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6053328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163056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011680"/>
            <a:ext cx="274320" cy="274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126480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터치</a:t>
            </a:r>
            <a:endParaRPr lang="en-US" sz="950" dirty="0"/>
          </a:p>
        </p:txBody>
      </p:sp>
      <p:sp>
        <p:nvSpPr>
          <p:cNvPr id="38" name="Text 31"/>
          <p:cNvSpPr txBox="1"/>
          <p:nvPr/>
        </p:nvSpPr>
        <p:spPr>
          <a:xfrm>
            <a:off x="6126480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구분된 영역을 터치</a:t>
            </a:r>
            <a:endParaRPr lang="en-US" sz="700" dirty="0"/>
          </a:p>
        </p:txBody>
      </p:sp>
      <p:sp>
        <p:nvSpPr>
          <p:cNvPr id="39" name="Text 32"/>
          <p:cNvSpPr txBox="1"/>
          <p:nvPr/>
        </p:nvSpPr>
        <p:spPr>
          <a:xfrm>
            <a:off x="7315200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7452360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7562088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6136" y="2011680"/>
            <a:ext cx="274320" cy="2743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25512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44" name="Text 36"/>
          <p:cNvSpPr txBox="1"/>
          <p:nvPr/>
        </p:nvSpPr>
        <p:spPr>
          <a:xfrm>
            <a:off x="7525512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페이지로 이동</a:t>
            </a:r>
            <a:endParaRPr lang="en-US" sz="700" dirty="0"/>
          </a:p>
        </p:txBody>
      </p:sp>
      <p:sp>
        <p:nvSpPr>
          <p:cNvPr id="45" name="Shape 37"/>
          <p:cNvSpPr/>
          <p:nvPr/>
        </p:nvSpPr>
        <p:spPr>
          <a:xfrm>
            <a:off x="457200" y="3291840"/>
            <a:ext cx="3977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68580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 방식</a:t>
            </a:r>
            <a:endParaRPr lang="en-US" sz="850" dirty="0"/>
          </a:p>
        </p:txBody>
      </p:sp>
      <p:sp>
        <p:nvSpPr>
          <p:cNvPr id="47" name="Text 39"/>
          <p:cNvSpPr txBox="1"/>
          <p:nvPr/>
        </p:nvSpPr>
        <p:spPr>
          <a:xfrm>
            <a:off x="246888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850" dirty="0"/>
          </a:p>
        </p:txBody>
      </p:sp>
      <p:pic>
        <p:nvPicPr>
          <p:cNvPr id="48" name="Image 6" descr="img/cmp_bbo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703320"/>
            <a:ext cx="1600200" cy="1600200"/>
          </a:xfrm>
          <a:prstGeom prst="rect">
            <a:avLst/>
          </a:prstGeom>
        </p:spPr>
      </p:pic>
      <p:pic>
        <p:nvPicPr>
          <p:cNvPr id="49" name="Image 7" descr="img/cmp_pol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2032" y="3703320"/>
            <a:ext cx="1600200" cy="16002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85800" y="53492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정확하지 않은 영역</a:t>
            </a:r>
            <a:endParaRPr lang="en-US" sz="750" dirty="0"/>
          </a:p>
        </p:txBody>
      </p:sp>
      <p:sp>
        <p:nvSpPr>
          <p:cNvPr id="51" name="Text 41"/>
          <p:cNvSpPr txBox="1"/>
          <p:nvPr/>
        </p:nvSpPr>
        <p:spPr>
          <a:xfrm>
            <a:off x="2542032" y="53492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</a:t>
            </a:r>
            <a:endParaRPr lang="en-US" sz="750" dirty="0"/>
          </a:p>
        </p:txBody>
      </p:sp>
      <p:sp>
        <p:nvSpPr>
          <p:cNvPr id="52" name="Text 42"/>
          <p:cNvSpPr txBox="1"/>
          <p:nvPr/>
        </p:nvSpPr>
        <p:spPr>
          <a:xfrm>
            <a:off x="475488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실제 상품의 모양을 정확히 구분합니다</a:t>
            </a:r>
            <a:endParaRPr lang="en-US" sz="1200" dirty="0"/>
          </a:p>
        </p:txBody>
      </p:sp>
      <p:pic>
        <p:nvPicPr>
          <p:cNvPr id="5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3794760"/>
            <a:ext cx="146304" cy="146304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4983480" y="3767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박스가 아닌, 실제 상품의 실루엣(모양)을 따라 영역을 구분합니다.</a:t>
            </a:r>
            <a:endParaRPr lang="en-US" sz="900" dirty="0"/>
          </a:p>
        </p:txBody>
      </p:sp>
      <p:pic>
        <p:nvPicPr>
          <p:cNvPr id="5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4160520"/>
            <a:ext cx="146304" cy="146304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4983480" y="413308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매칭으로 원하는 상품을 빠르게 찾을 수 있습니다.</a:t>
            </a:r>
            <a:endParaRPr lang="en-US" sz="900" dirty="0"/>
          </a:p>
        </p:txBody>
      </p:sp>
      <p:pic>
        <p:nvPicPr>
          <p:cNvPr id="5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4526280"/>
            <a:ext cx="146304" cy="146304"/>
          </a:xfrm>
          <a:prstGeom prst="rect">
            <a:avLst/>
          </a:prstGeom>
        </p:spPr>
      </p:pic>
      <p:sp>
        <p:nvSpPr>
          <p:cNvPr id="58" name="Text 45"/>
          <p:cNvSpPr txBox="1"/>
          <p:nvPr/>
        </p:nvSpPr>
        <p:spPr>
          <a:xfrm>
            <a:off x="4983480" y="44988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결과가 ‘정확히 일치’인지 ‘비슷한 상품’인지 한눈에 확인할 수 있습니다.</a:t>
            </a:r>
            <a:endParaRPr lang="en-US" sz="900" dirty="0"/>
          </a:p>
        </p:txBody>
      </p:sp>
      <p:sp>
        <p:nvSpPr>
          <p:cNvPr id="59" name="Shape 46"/>
          <p:cNvSpPr/>
          <p:nvPr/>
        </p:nvSpPr>
        <p:spPr>
          <a:xfrm>
            <a:off x="4754880" y="498348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60" name="Text 47"/>
          <p:cNvSpPr txBox="1"/>
          <p:nvPr/>
        </p:nvSpPr>
        <p:spPr>
          <a:xfrm>
            <a:off x="4754880" y="49834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일치</a:t>
            </a:r>
            <a:endParaRPr lang="en-US" sz="700" dirty="0"/>
          </a:p>
        </p:txBody>
      </p:sp>
      <p:sp>
        <p:nvSpPr>
          <p:cNvPr id="61" name="Text 48"/>
          <p:cNvSpPr txBox="1"/>
          <p:nvPr/>
        </p:nvSpPr>
        <p:spPr>
          <a:xfrm>
            <a:off x="5623560" y="49926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동일한 상품</a:t>
            </a:r>
            <a:endParaRPr lang="en-US" sz="750" dirty="0"/>
          </a:p>
        </p:txBody>
      </p:sp>
      <p:sp>
        <p:nvSpPr>
          <p:cNvPr id="62" name="Shape 49"/>
          <p:cNvSpPr/>
          <p:nvPr/>
        </p:nvSpPr>
        <p:spPr>
          <a:xfrm>
            <a:off x="4754880" y="528523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0"/>
          <p:cNvSpPr txBox="1"/>
          <p:nvPr/>
        </p:nvSpPr>
        <p:spPr>
          <a:xfrm>
            <a:off x="4754880" y="52852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상품</a:t>
            </a:r>
            <a:endParaRPr lang="en-US" sz="700" dirty="0"/>
          </a:p>
        </p:txBody>
      </p:sp>
      <p:sp>
        <p:nvSpPr>
          <p:cNvPr id="64" name="Shape 51"/>
          <p:cNvSpPr/>
          <p:nvPr/>
        </p:nvSpPr>
        <p:spPr>
          <a:xfrm>
            <a:off x="4754880" y="5285232"/>
            <a:ext cx="777240" cy="201168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65" name="Text 52"/>
          <p:cNvSpPr txBox="1"/>
          <p:nvPr/>
        </p:nvSpPr>
        <p:spPr>
          <a:xfrm>
            <a:off x="5623560" y="52943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유사한 스타일의 추천 상품</a:t>
            </a:r>
            <a:endParaRPr lang="en-US" sz="750" dirty="0"/>
          </a:p>
        </p:txBody>
      </p:sp>
      <p:sp>
        <p:nvSpPr>
          <p:cNvPr id="66" name="Text 53"/>
          <p:cNvSpPr txBox="1"/>
          <p:nvPr/>
        </p:nvSpPr>
        <p:spPr>
          <a:xfrm>
            <a:off x="7223760" y="4983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확인</a:t>
            </a:r>
            <a:endParaRPr lang="en-US" sz="750" dirty="0"/>
          </a:p>
        </p:txBody>
      </p:sp>
      <p:sp>
        <p:nvSpPr>
          <p:cNvPr id="67" name="Text 54"/>
          <p:cNvSpPr txBox="1"/>
          <p:nvPr/>
        </p:nvSpPr>
        <p:spPr>
          <a:xfrm>
            <a:off x="7223760" y="5166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추천하면, 크리에이터가 최종 확인</a:t>
            </a:r>
            <a:endParaRPr lang="en-US" sz="750" dirty="0"/>
          </a:p>
        </p:txBody>
      </p:sp>
      <p:sp>
        <p:nvSpPr>
          <p:cNvPr id="68" name="Shape 55"/>
          <p:cNvSpPr/>
          <p:nvPr/>
        </p:nvSpPr>
        <p:spPr>
          <a:xfrm>
            <a:off x="457200" y="576072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69" name="Shape 56"/>
          <p:cNvSpPr/>
          <p:nvPr/>
        </p:nvSpPr>
        <p:spPr>
          <a:xfrm>
            <a:off x="594360" y="5843016"/>
            <a:ext cx="310896" cy="310896"/>
          </a:xfrm>
          <a:prstGeom prst="ellipse">
            <a:avLst/>
          </a:prstGeom>
          <a:solidFill>
            <a:srgbClr val="26262E"/>
          </a:solidFill>
          <a:ln w="12700">
            <a:solidFill>
              <a:srgbClr val="26262E"/>
            </a:solidFill>
            <a:prstDash val="solid"/>
          </a:ln>
        </p:spPr>
      </p:sp>
      <p:pic>
        <p:nvPicPr>
          <p:cNvPr id="7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" y="5920740"/>
            <a:ext cx="155448" cy="155448"/>
          </a:xfrm>
          <a:prstGeom prst="rect">
            <a:avLst/>
          </a:prstGeom>
        </p:spPr>
      </p:pic>
      <p:sp>
        <p:nvSpPr>
          <p:cNvPr id="71" name="Text 57"/>
          <p:cNvSpPr txBox="1"/>
          <p:nvPr/>
        </p:nvSpPr>
        <p:spPr>
          <a:xfrm>
            <a:off x="1024128" y="57607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후보 상품을 추천하고, 크리에이터가 최종 확인합니다. </a:t>
            </a:r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기술과 사람의 검수를 더해, 신뢰할 수 있는 결과를 제공합니다.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TECHNOLOGY MOAT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기술보다 중요한 것은,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연결되는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데이터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 가능하지만, 구매와 연결된 데이터는 시간이 지날수록 더 강력해집니다.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54680"/>
            <a:ext cx="457200" cy="457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화면에서 상품이 보이는 부분을 빠짐없이 찾아냅니다.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755648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856232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386584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386584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947672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모양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구분</a:t>
            </a:r>
            <a:endParaRPr lang="en-US" sz="9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856" y="3154680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965960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옷, 신발, 가방 등 겹치거나 가려져도 정확히 구분합니다.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3154680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3255264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785616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85616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3346704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판매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</a:t>
            </a:r>
            <a:endParaRPr lang="en-US" sz="9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3154680"/>
            <a:ext cx="457200" cy="4572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3364992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찾고 구분한 상품을 실제 판매 중인 상품과 연결합니다.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553712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654296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18464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18464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4745736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상품이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눌리고 팔렸는지 기록</a:t>
            </a:r>
            <a:endParaRPr lang="en-US" sz="9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154680"/>
            <a:ext cx="457200" cy="4572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4764024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누가, 어떤 상품을 눌렀고 최종 구매까지 연결됐는지 데이터를 기록합니다.</a:t>
            </a:r>
            <a:endParaRPr lang="en-US" sz="750" dirty="0"/>
          </a:p>
        </p:txBody>
      </p:sp>
      <p:sp>
        <p:nvSpPr>
          <p:cNvPr id="37" name="Shape 31"/>
          <p:cNvSpPr/>
          <p:nvPr/>
        </p:nvSpPr>
        <p:spPr>
          <a:xfrm>
            <a:off x="457200" y="4846320"/>
            <a:ext cx="5541264" cy="868680"/>
          </a:xfrm>
          <a:prstGeom prst="roundRect">
            <a:avLst>
              <a:gd name="adj" fmla="val 10526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40080" y="5074920"/>
            <a:ext cx="384048" cy="384048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" y="51709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188720" y="4983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쌓아가는 것은 모델이 아니라 </a:t>
            </a:r>
            <a:pPr indent="0" marL="0">
              <a:buNone/>
            </a:pPr>
            <a:r>
              <a:rPr lang="en-US" sz="10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‘구매와 연결된 데이터’</a:t>
            </a:r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입니다.</a:t>
            </a:r>
            <a:endParaRPr lang="en-US" sz="1000" dirty="0"/>
          </a:p>
        </p:txBody>
      </p:sp>
      <p:sp>
        <p:nvSpPr>
          <p:cNvPr id="41" name="Text 34"/>
          <p:cNvSpPr txBox="1"/>
          <p:nvPr/>
        </p:nvSpPr>
        <p:spPr>
          <a:xfrm>
            <a:off x="1188720" y="52852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데이터가 서비스의 정교함과 개인화, 추천의 정확도를 결정합니다.</a:t>
            </a:r>
            <a:endParaRPr lang="en-US" sz="850" dirty="0"/>
          </a:p>
        </p:txBody>
      </p:sp>
      <p:sp>
        <p:nvSpPr>
          <p:cNvPr id="42" name="Text 35"/>
          <p:cNvSpPr txBox="1"/>
          <p:nvPr/>
        </p:nvSpPr>
        <p:spPr>
          <a:xfrm>
            <a:off x="457200" y="5943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본 벤치마크 수치는 당사 자체 테스트 기준 측정값이며, 외부 검증 기준과 다를 수 있습니다.</a:t>
            </a:r>
            <a:endParaRPr lang="en-US" sz="650" dirty="0"/>
          </a:p>
        </p:txBody>
      </p:sp>
      <p:sp>
        <p:nvSpPr>
          <p:cNvPr id="43" name="Shape 36"/>
          <p:cNvSpPr/>
          <p:nvPr/>
        </p:nvSpPr>
        <p:spPr>
          <a:xfrm>
            <a:off x="6263640" y="2103120"/>
            <a:ext cx="2423160" cy="3611880"/>
          </a:xfrm>
          <a:prstGeom prst="roundRect">
            <a:avLst>
              <a:gd name="adj" fmla="val 4528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492240" y="2331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인식률</a:t>
            </a:r>
            <a:endParaRPr lang="en-US" sz="750" dirty="0"/>
          </a:p>
        </p:txBody>
      </p:sp>
      <p:sp>
        <p:nvSpPr>
          <p:cNvPr id="45" name="Text 38"/>
          <p:cNvSpPr txBox="1"/>
          <p:nvPr/>
        </p:nvSpPr>
        <p:spPr>
          <a:xfrm>
            <a:off x="649224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400" dirty="0"/>
          </a:p>
        </p:txBody>
      </p:sp>
      <p:sp>
        <p:nvSpPr>
          <p:cNvPr id="46" name="Text 39"/>
          <p:cNvSpPr txBox="1"/>
          <p:nvPr/>
        </p:nvSpPr>
        <p:spPr>
          <a:xfrm>
            <a:off x="6492240" y="3044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22개 중 19개 인식</a:t>
            </a:r>
            <a:endParaRPr lang="en-US" sz="750" dirty="0"/>
          </a:p>
        </p:txBody>
      </p:sp>
      <p:sp>
        <p:nvSpPr>
          <p:cNvPr id="47" name="Shape 40"/>
          <p:cNvSpPr/>
          <p:nvPr/>
        </p:nvSpPr>
        <p:spPr>
          <a:xfrm>
            <a:off x="6492240" y="3319272"/>
            <a:ext cx="196596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492240" y="3474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 성공</a:t>
            </a:r>
            <a:endParaRPr lang="en-US" sz="750" dirty="0"/>
          </a:p>
        </p:txBody>
      </p:sp>
      <p:sp>
        <p:nvSpPr>
          <p:cNvPr id="49" name="Text 42"/>
          <p:cNvSpPr txBox="1"/>
          <p:nvPr/>
        </p:nvSpPr>
        <p:spPr>
          <a:xfrm>
            <a:off x="6492240" y="3703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96%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6492240" y="4187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정확한 영역 분할 성공</a:t>
            </a:r>
            <a:endParaRPr lang="en-US" sz="750" dirty="0"/>
          </a:p>
        </p:txBody>
      </p:sp>
      <p:sp>
        <p:nvSpPr>
          <p:cNvPr id="51" name="Shape 44"/>
          <p:cNvSpPr/>
          <p:nvPr/>
        </p:nvSpPr>
        <p:spPr>
          <a:xfrm>
            <a:off x="6492240" y="4462272"/>
            <a:ext cx="196596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492240" y="4617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안전장치 3단계</a:t>
            </a:r>
            <a:endParaRPr lang="en-US" sz="750" dirty="0"/>
          </a:p>
        </p:txBody>
      </p:sp>
      <p:sp>
        <p:nvSpPr>
          <p:cNvPr id="53" name="Text 46"/>
          <p:cNvSpPr txBox="1"/>
          <p:nvPr/>
        </p:nvSpPr>
        <p:spPr>
          <a:xfrm>
            <a:off x="64922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단계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6492240" y="5330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/ 기기 / 네트워크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가볍게 시작하고,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거래가 생기면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중심으로 확장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핵심 기능만 빠르게 운영하고, 실제 거래가 쌓이면 데이터 기반 기능을 확장합니다.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MVP 흐름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5176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상품을 보고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39696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26517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231136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2249424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사진으로 상품을 인식하고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3602736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822192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5176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13632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931920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상품이 있는 영역을 구분하고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5285232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504688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65176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596128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5614416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카탈로그와 비교해 가장 잘 맞는 상품을 찾고</a:t>
            </a:r>
            <a:endParaRPr lang="en-US" sz="700" dirty="0"/>
          </a:p>
        </p:txBody>
      </p:sp>
      <p:sp>
        <p:nvSpPr>
          <p:cNvPr id="31" name="Text 25"/>
          <p:cNvSpPr txBox="1"/>
          <p:nvPr/>
        </p:nvSpPr>
        <p:spPr>
          <a:xfrm>
            <a:off x="6967728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187184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824" y="265176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78624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7296912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상품을 구매할 수 있도록 연결합니다</a:t>
            </a:r>
            <a:endParaRPr lang="en-US" sz="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3977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앞으로의 확장 구조 (거래가 쌓이면)</a:t>
            </a:r>
            <a:endParaRPr lang="en-US" sz="750" dirty="0"/>
          </a:p>
        </p:txBody>
      </p:sp>
      <p:sp>
        <p:nvSpPr>
          <p:cNvPr id="37" name="Shape 30"/>
          <p:cNvSpPr/>
          <p:nvPr/>
        </p:nvSpPr>
        <p:spPr>
          <a:xfrm>
            <a:off x="457200" y="423367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57200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52628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548640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 수집</a:t>
            </a:r>
            <a:endParaRPr lang="en-US" sz="950" dirty="0"/>
          </a:p>
        </p:txBody>
      </p:sp>
      <p:sp>
        <p:nvSpPr>
          <p:cNvPr id="41" name="Text 33"/>
          <p:cNvSpPr txBox="1"/>
          <p:nvPr/>
        </p:nvSpPr>
        <p:spPr>
          <a:xfrm>
            <a:off x="566928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사용자의 조회, 클릭, 장바구니, 구매 등 모든 행동을 기록합니다.</a:t>
            </a:r>
            <a:endParaRPr lang="en-US" sz="700" dirty="0"/>
          </a:p>
        </p:txBody>
      </p:sp>
      <p:sp>
        <p:nvSpPr>
          <p:cNvPr id="42" name="Text 34"/>
          <p:cNvSpPr txBox="1"/>
          <p:nvPr/>
        </p:nvSpPr>
        <p:spPr>
          <a:xfrm>
            <a:off x="1920240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2139696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8336" y="4526280"/>
            <a:ext cx="365760" cy="3657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2231136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기여도 분석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2249424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접점이 구매에 얼마나 영향을 미쳤는지 분석합니다.</a:t>
            </a:r>
            <a:endParaRPr lang="en-US" sz="700" dirty="0"/>
          </a:p>
        </p:txBody>
      </p:sp>
      <p:sp>
        <p:nvSpPr>
          <p:cNvPr id="47" name="Text 38"/>
          <p:cNvSpPr txBox="1"/>
          <p:nvPr/>
        </p:nvSpPr>
        <p:spPr>
          <a:xfrm>
            <a:off x="3602736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3822192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0832" y="4526280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3913632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시스템</a:t>
            </a:r>
            <a:endParaRPr lang="en-US" sz="950" dirty="0"/>
          </a:p>
        </p:txBody>
      </p:sp>
      <p:sp>
        <p:nvSpPr>
          <p:cNvPr id="51" name="Text 41"/>
          <p:cNvSpPr txBox="1"/>
          <p:nvPr/>
        </p:nvSpPr>
        <p:spPr>
          <a:xfrm>
            <a:off x="3931920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결과를 바탕으로 파트너와 정산을 자동으로 처리합니다.</a:t>
            </a:r>
            <a:endParaRPr lang="en-US" sz="700" dirty="0"/>
          </a:p>
        </p:txBody>
      </p:sp>
      <p:sp>
        <p:nvSpPr>
          <p:cNvPr id="52" name="Text 42"/>
          <p:cNvSpPr txBox="1"/>
          <p:nvPr/>
        </p:nvSpPr>
        <p:spPr>
          <a:xfrm>
            <a:off x="5285232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3" name="Shape 43"/>
          <p:cNvSpPr/>
          <p:nvPr/>
        </p:nvSpPr>
        <p:spPr>
          <a:xfrm>
            <a:off x="5504688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3328" y="4526280"/>
            <a:ext cx="365760" cy="36576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5596128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카탈로그</a:t>
            </a:r>
            <a:endParaRPr lang="en-US" sz="950" dirty="0"/>
          </a:p>
        </p:txBody>
      </p:sp>
      <p:sp>
        <p:nvSpPr>
          <p:cNvPr id="56" name="Text 45"/>
          <p:cNvSpPr txBox="1"/>
          <p:nvPr/>
        </p:nvSpPr>
        <p:spPr>
          <a:xfrm>
            <a:off x="5614416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SKU, 가격, 재고, 지역 등 상품 정보를 체계적으로 관리합니다.</a:t>
            </a:r>
            <a:endParaRPr lang="en-US" sz="700" dirty="0"/>
          </a:p>
        </p:txBody>
      </p:sp>
      <p:sp>
        <p:nvSpPr>
          <p:cNvPr id="57" name="Text 46"/>
          <p:cNvSpPr txBox="1"/>
          <p:nvPr/>
        </p:nvSpPr>
        <p:spPr>
          <a:xfrm>
            <a:off x="6967728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7187184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35824" y="4526280"/>
            <a:ext cx="365760" cy="365760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7278624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데이터</a:t>
            </a:r>
            <a:endParaRPr lang="en-US" sz="950" dirty="0"/>
          </a:p>
        </p:txBody>
      </p:sp>
      <p:sp>
        <p:nvSpPr>
          <p:cNvPr id="61" name="Text 49"/>
          <p:cNvSpPr txBox="1"/>
          <p:nvPr/>
        </p:nvSpPr>
        <p:spPr>
          <a:xfrm>
            <a:off x="7296912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브랜드, 매장, 캠페인 등 파트너 데이터를 통합 관리합니다.</a:t>
            </a:r>
            <a:endParaRPr lang="en-US" sz="700" dirty="0"/>
          </a:p>
        </p:txBody>
      </p:sp>
      <p:sp>
        <p:nvSpPr>
          <p:cNvPr id="62" name="Shape 50"/>
          <p:cNvSpPr/>
          <p:nvPr/>
        </p:nvSpPr>
        <p:spPr>
          <a:xfrm>
            <a:off x="457200" y="5806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6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943600"/>
            <a:ext cx="164592" cy="164592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896112" y="5806440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교체가 가능하지만,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데이터 구조와 거래 신호를 보유하고 있습니다.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COMPETITION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관리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바로 연결합니다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자동 인식하고, 크리에이터가 확인하면 즉시 연결·판매되는 구조입니다.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48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1488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단위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148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 방식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14884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수익화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1488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단위 구매 데이터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" y="2395728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4871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Pinterest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4871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/ 아이디어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4871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기반 수동 태그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623560" y="24871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간접 수익 (광고 중심)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24871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9169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443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LTK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29443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샵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29443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기반 수동 연결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944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29443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33741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34015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ShopMy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965960" y="34015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링크/샵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749040" y="34015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기반 수동 연결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34015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4015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38313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38587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Lens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965960" y="38587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검색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749040" y="38587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(검색 중심)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23560" y="38587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360920" y="38587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전용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" y="42885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4297680"/>
            <a:ext cx="8412480" cy="438912"/>
          </a:xfrm>
          <a:prstGeom prst="roundRect">
            <a:avLst>
              <a:gd name="adj" fmla="val 125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3159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057400" y="43159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840480" y="4315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+ 크리에이터 확인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715000" y="43159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수익 배분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45236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자산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4937760"/>
            <a:ext cx="8229600" cy="1234440"/>
          </a:xfrm>
          <a:prstGeom prst="roundRect">
            <a:avLst>
              <a:gd name="adj" fmla="val 8889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51389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WEDGE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 flipH="1">
            <a:off x="777240" y="5413248"/>
            <a:ext cx="548640" cy="502920"/>
          </a:xfrm>
          <a:prstGeom prst="rtTriangl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920240" y="50749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새 플랫폼을 만들기보다,
기존 SNS 콘텐츠 위에 붙는 쇼핑 연결 레이어입니다.
</a:t>
            </a:r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콘텐츠 이주 없이 빠르게 확산될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GROWTH FLYWHEEL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 쌓일수록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정확해지고,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많이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팔립니다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데이터가 더 풍부해지고 연결이 더 정교해져, 전환·수익 선순환이 커집니다.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6243" y="275190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900414" y="3456432"/>
            <a:ext cx="0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106243" y="474072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1720430" y="474072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1128786" y="3456432"/>
            <a:ext cx="0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720430" y="275190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805940" y="221742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879092" y="229057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8246" y="2379726"/>
            <a:ext cx="178308" cy="17830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308860" y="22905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2308860" y="2473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콘텐츠 (상품 연결)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3191754" y="28803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64906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060" y="3042666"/>
            <a:ext cx="178308" cy="17830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694674" y="2953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694674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상품이 정확하게 인식</a:t>
            </a:r>
            <a:endParaRPr lang="en-US" sz="600" dirty="0"/>
          </a:p>
        </p:txBody>
      </p:sp>
      <p:sp>
        <p:nvSpPr>
          <p:cNvPr id="26" name="Shape 22"/>
          <p:cNvSpPr/>
          <p:nvPr/>
        </p:nvSpPr>
        <p:spPr>
          <a:xfrm>
            <a:off x="3191754" y="420624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264906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60" y="4368546"/>
            <a:ext cx="178308" cy="17830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3694674" y="42793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증가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3694674" y="4462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관련성 높은 상품으로 클릭 증가</a:t>
            </a:r>
            <a:endParaRPr lang="en-US" sz="600" dirty="0"/>
          </a:p>
        </p:txBody>
      </p:sp>
      <p:sp>
        <p:nvSpPr>
          <p:cNvPr id="31" name="Shape 26"/>
          <p:cNvSpPr/>
          <p:nvPr/>
        </p:nvSpPr>
        <p:spPr>
          <a:xfrm>
            <a:off x="1805940" y="486918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879092" y="494233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246" y="5031486"/>
            <a:ext cx="178308" cy="17830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2308860" y="49423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증가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2308860" y="51252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전환 및 매출 확대</a:t>
            </a:r>
            <a:endParaRPr lang="en-US" sz="600" dirty="0"/>
          </a:p>
        </p:txBody>
      </p:sp>
      <p:sp>
        <p:nvSpPr>
          <p:cNvPr id="36" name="Shape 30"/>
          <p:cNvSpPr/>
          <p:nvPr/>
        </p:nvSpPr>
        <p:spPr>
          <a:xfrm>
            <a:off x="420126" y="420624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93278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32" y="4368546"/>
            <a:ext cx="178308" cy="17830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23046" y="42793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참여 확대</a:t>
            </a:r>
            <a:endParaRPr lang="en-US" sz="850" dirty="0"/>
          </a:p>
        </p:txBody>
      </p:sp>
      <p:sp>
        <p:nvSpPr>
          <p:cNvPr id="40" name="Text 33"/>
          <p:cNvSpPr txBox="1"/>
          <p:nvPr/>
        </p:nvSpPr>
        <p:spPr>
          <a:xfrm>
            <a:off x="923046" y="4462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브랜드가 참여 (협찬·캠페인)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420126" y="28803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93278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32" y="3042666"/>
            <a:ext cx="178308" cy="178308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23046" y="2953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품질 향상</a:t>
            </a:r>
            <a:endParaRPr 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923046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매칭으로 전환율 상승</a:t>
            </a:r>
            <a:endParaRPr lang="en-US" sz="600" dirty="0"/>
          </a:p>
        </p:txBody>
      </p:sp>
      <p:sp>
        <p:nvSpPr>
          <p:cNvPr id="46" name="Text 38"/>
          <p:cNvSpPr txBox="1"/>
          <p:nvPr/>
        </p:nvSpPr>
        <p:spPr>
          <a:xfrm>
            <a:off x="1691640" y="341071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
</a:t>
            </a:r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엔진이 되어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선순환을 만듭니다</a:t>
            </a:r>
            <a:endParaRPr lang="en-US" sz="950" dirty="0"/>
          </a:p>
        </p:txBody>
      </p:sp>
      <p:sp>
        <p:nvSpPr>
          <p:cNvPr id="47" name="Shape 39"/>
          <p:cNvSpPr/>
          <p:nvPr/>
        </p:nvSpPr>
        <p:spPr>
          <a:xfrm>
            <a:off x="4937760" y="2103120"/>
            <a:ext cx="37490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355080" y="2331720"/>
            <a:ext cx="548640" cy="54864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468880"/>
            <a:ext cx="274320" cy="27432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5120640" y="3017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장면 · 상품 · 구매 데이터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5120640" y="33101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축적이 곧 경쟁력</a:t>
            </a:r>
            <a:endParaRPr lang="en-US" sz="1200" dirty="0"/>
          </a:p>
        </p:txBody>
      </p:sp>
      <p:sp>
        <p:nvSpPr>
          <p:cNvPr id="52" name="Text 43"/>
          <p:cNvSpPr txBox="1"/>
          <p:nvPr/>
        </p:nvSpPr>
        <p:spPr>
          <a:xfrm>
            <a:off x="530352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탭이 ‘어떤 장면의 어떤 상품이 어떤 반응을 만들었는가’를 데이터로 남깁니다.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5394960" y="4297680"/>
            <a:ext cx="283464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530352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연결이 모일수록 예측은 정확해지고, 추천은 정교해지며, 성과는 계속 커집니다.</a:t>
            </a:r>
            <a:endParaRPr lang="en-US" sz="90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54406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선순환이 만드는 compounding 효과</a:t>
            </a:r>
            <a:endParaRPr lang="en-US" sz="750" dirty="0"/>
          </a:p>
        </p:txBody>
      </p:sp>
      <p:sp>
        <p:nvSpPr>
          <p:cNvPr id="56" name="Shape 47"/>
          <p:cNvSpPr/>
          <p:nvPr/>
        </p:nvSpPr>
        <p:spPr>
          <a:xfrm>
            <a:off x="45720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779008"/>
            <a:ext cx="182880" cy="182880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91440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전환율 상승</a:t>
            </a:r>
            <a:endParaRPr lang="en-US" sz="850" dirty="0"/>
          </a:p>
        </p:txBody>
      </p:sp>
      <p:sp>
        <p:nvSpPr>
          <p:cNvPr id="59" name="Text 49"/>
          <p:cNvSpPr txBox="1"/>
          <p:nvPr/>
        </p:nvSpPr>
        <p:spPr>
          <a:xfrm>
            <a:off x="91440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잘 팔림</a:t>
            </a:r>
            <a:endParaRPr lang="en-US" sz="750" dirty="0"/>
          </a:p>
        </p:txBody>
      </p:sp>
      <p:sp>
        <p:nvSpPr>
          <p:cNvPr id="60" name="Text 50"/>
          <p:cNvSpPr txBox="1"/>
          <p:nvPr/>
        </p:nvSpPr>
        <p:spPr>
          <a:xfrm>
            <a:off x="226771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1" name="Shape 51"/>
          <p:cNvSpPr/>
          <p:nvPr/>
        </p:nvSpPr>
        <p:spPr>
          <a:xfrm>
            <a:off x="256032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5779008"/>
            <a:ext cx="182880" cy="182880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301752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협상력 강화</a:t>
            </a:r>
            <a:endParaRPr lang="en-US" sz="850" dirty="0"/>
          </a:p>
        </p:txBody>
      </p:sp>
      <p:sp>
        <p:nvSpPr>
          <p:cNvPr id="64" name="Text 53"/>
          <p:cNvSpPr txBox="1"/>
          <p:nvPr/>
        </p:nvSpPr>
        <p:spPr>
          <a:xfrm>
            <a:off x="301752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좋은 조건</a:t>
            </a:r>
            <a:endParaRPr lang="en-US" sz="750" dirty="0"/>
          </a:p>
        </p:txBody>
      </p:sp>
      <p:sp>
        <p:nvSpPr>
          <p:cNvPr id="65" name="Text 54"/>
          <p:cNvSpPr txBox="1"/>
          <p:nvPr/>
        </p:nvSpPr>
        <p:spPr>
          <a:xfrm>
            <a:off x="437083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6" name="Shape 55"/>
          <p:cNvSpPr/>
          <p:nvPr/>
        </p:nvSpPr>
        <p:spPr>
          <a:xfrm>
            <a:off x="466344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5779008"/>
            <a:ext cx="182880" cy="182880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512064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 증가</a:t>
            </a:r>
            <a:endParaRPr lang="en-US" sz="850" dirty="0"/>
          </a:p>
        </p:txBody>
      </p:sp>
      <p:sp>
        <p:nvSpPr>
          <p:cNvPr id="69" name="Text 57"/>
          <p:cNvSpPr txBox="1"/>
          <p:nvPr/>
        </p:nvSpPr>
        <p:spPr>
          <a:xfrm>
            <a:off x="512064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자속적으로 콘텐츠 발행</a:t>
            </a:r>
            <a:endParaRPr lang="en-US" sz="750" dirty="0"/>
          </a:p>
        </p:txBody>
      </p:sp>
      <p:sp>
        <p:nvSpPr>
          <p:cNvPr id="70" name="Text 58"/>
          <p:cNvSpPr txBox="1"/>
          <p:nvPr/>
        </p:nvSpPr>
        <p:spPr>
          <a:xfrm>
            <a:off x="647395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71" name="Shape 59"/>
          <p:cNvSpPr/>
          <p:nvPr/>
        </p:nvSpPr>
        <p:spPr>
          <a:xfrm>
            <a:off x="676656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0" y="5779008"/>
            <a:ext cx="182880" cy="182880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722376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발행 증가</a:t>
            </a:r>
            <a:endParaRPr lang="en-US" sz="850" dirty="0"/>
          </a:p>
        </p:txBody>
      </p:sp>
      <p:sp>
        <p:nvSpPr>
          <p:cNvPr id="74" name="Text 61"/>
          <p:cNvSpPr txBox="1"/>
          <p:nvPr/>
        </p:nvSpPr>
        <p:spPr>
          <a:xfrm>
            <a:off x="722376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데이터 축적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MODEL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시작하고,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이후에는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데이터와 도구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확장합니다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1단계부터 검증하며 수익을 만들고, 이후 단계로 확장해 지속 가능한 성장 구조를 만듭니다.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8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221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크리에이터가 상품을 판매하면 일정 비율의 수수료를 받습니다.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78040" y="2231136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78040" y="2231136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Creator 70 / STS 30 가정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880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노출 상품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862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크리에이터·상품을 더 잘 노출되도록 광고 상품을 구매합니다.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8040" y="2852928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852928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CPC / CPS + 광고 표시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327355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021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4655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분석 도구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크리에이터가 성과를 분석하고 더 잘 성장할 수 있는 유료 도구를 제공합니다.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178040" y="3474720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34747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구독형 서비스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178040" y="3474720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895344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12394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087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성과 대시보드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41056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캠페인과 상품 성과를 한눈에 관리할 수 있는 대시보드를 제공합니다.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178040" y="4096512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8040" y="409651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SaaS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7178040" y="4096512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5171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4745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제공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2743200" y="4727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익명화된 판매·성과 데이터를 기업과 연구기관에 제공합니다.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178040" y="4718304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78040" y="471830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/ 연구용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7178040" y="4718304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5138928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54406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단계 순서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57200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920240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139696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139696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2139696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정산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602736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822192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22192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3822192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직접 제휴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5285232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504688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504688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5504688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브랜드용 소프트웨어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967728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187184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187184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7187184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사업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시장은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콘텐츠 커머스입니다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 시장은 방대하지만, STS는 크리에이터 기반 제휴 커머스를 동남아 K-뷰티 카테고리에서 시작합니다.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446020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80160" y="23042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전체 시장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3042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4688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$1.48T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23591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소셜 커머스 시장</a:t>
            </a:r>
            <a:endParaRPr lang="en-US" sz="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지속 성장 중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2926080" y="3017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320040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3543300"/>
            <a:ext cx="228600" cy="2286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80160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실행 가능한 시장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520440" y="34015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25" name="Text 21"/>
          <p:cNvSpPr txBox="1"/>
          <p:nvPr/>
        </p:nvSpPr>
        <p:spPr>
          <a:xfrm>
            <a:off x="3520440" y="3566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$23.9B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434840" y="34564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콘텐츠와 커머스가 결합된 시장</a:t>
            </a:r>
            <a:endParaRPr lang="en-US" sz="700" dirty="0"/>
          </a:p>
        </p:txBody>
      </p:sp>
      <p:sp>
        <p:nvSpPr>
          <p:cNvPr id="27" name="Text 23"/>
          <p:cNvSpPr txBox="1"/>
          <p:nvPr/>
        </p:nvSpPr>
        <p:spPr>
          <a:xfrm>
            <a:off x="2926080" y="41148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57200" y="429768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4640580"/>
            <a:ext cx="228600" cy="2286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80160" y="44988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첫 진입 시장</a:t>
            </a:r>
            <a:endParaRPr lang="en-US" sz="750" dirty="0"/>
          </a:p>
        </p:txBody>
      </p:sp>
      <p:sp>
        <p:nvSpPr>
          <p:cNvPr id="32" name="Text 27"/>
          <p:cNvSpPr txBox="1"/>
          <p:nvPr/>
        </p:nvSpPr>
        <p:spPr>
          <a:xfrm>
            <a:off x="1280160" y="4709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3520440" y="449884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34" name="Text 29"/>
          <p:cNvSpPr txBox="1"/>
          <p:nvPr/>
        </p:nvSpPr>
        <p:spPr>
          <a:xfrm>
            <a:off x="3520440" y="4663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$3.2B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4434840" y="455371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지역의 K-뷰티 관심과 쇼핑 수요에서 시작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457200" y="5440680"/>
            <a:ext cx="5212080" cy="457200"/>
          </a:xfrm>
          <a:prstGeom prst="roundRect">
            <a:avLst>
              <a:gd name="adj" fmla="val 200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586984"/>
            <a:ext cx="164592" cy="16459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14400" y="5440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수요 × 명확한 타깃 × 높은 실행 가능성으로 빠르게 엔진을 구축합니다.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45720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시장 수치는 인용된 리서치 기준의 추정치이며, 환율 및 통화에 따라 차이가 있을 수 있습니다.</a:t>
            </a:r>
            <a:endParaRPr lang="en-US" sz="650" dirty="0"/>
          </a:p>
        </p:txBody>
      </p:sp>
      <p:sp>
        <p:nvSpPr>
          <p:cNvPr id="40" name="Shape 34"/>
          <p:cNvSpPr/>
          <p:nvPr/>
        </p:nvSpPr>
        <p:spPr>
          <a:xfrm>
            <a:off x="5943600" y="2103120"/>
            <a:ext cx="274320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126480" y="228600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성장 전망 (연평균 성장률)</a:t>
            </a:r>
            <a:endParaRPr lang="en-US" sz="750" dirty="0"/>
          </a:p>
        </p:txBody>
      </p:sp>
      <p:sp>
        <p:nvSpPr>
          <p:cNvPr id="42" name="Text 36"/>
          <p:cNvSpPr txBox="1"/>
          <p:nvPr/>
        </p:nvSpPr>
        <p:spPr>
          <a:xfrm>
            <a:off x="6126480" y="2606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6126480" y="27889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4" name="Text 38"/>
          <p:cNvSpPr txBox="1"/>
          <p:nvPr/>
        </p:nvSpPr>
        <p:spPr>
          <a:xfrm>
            <a:off x="786384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28%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6126480" y="30175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126480" y="3017520"/>
            <a:ext cx="1664208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126480" y="32918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750" dirty="0"/>
          </a:p>
        </p:txBody>
      </p:sp>
      <p:sp>
        <p:nvSpPr>
          <p:cNvPr id="48" name="Text 42"/>
          <p:cNvSpPr txBox="1"/>
          <p:nvPr/>
        </p:nvSpPr>
        <p:spPr>
          <a:xfrm>
            <a:off x="6126480" y="34747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9" name="Text 43"/>
          <p:cNvSpPr txBox="1"/>
          <p:nvPr/>
        </p:nvSpPr>
        <p:spPr>
          <a:xfrm>
            <a:off x="786384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31%</a:t>
            </a:r>
            <a:endParaRPr lang="en-US" sz="1200" dirty="0"/>
          </a:p>
        </p:txBody>
      </p:sp>
      <p:sp>
        <p:nvSpPr>
          <p:cNvPr id="50" name="Shape 44"/>
          <p:cNvSpPr/>
          <p:nvPr/>
        </p:nvSpPr>
        <p:spPr>
          <a:xfrm>
            <a:off x="6126480" y="37033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6126480" y="3703320"/>
            <a:ext cx="1854403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6053328" y="3904488"/>
            <a:ext cx="2523744" cy="640080"/>
          </a:xfrm>
          <a:prstGeom prst="roundRect">
            <a:avLst>
              <a:gd name="adj" fmla="val 11429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126480" y="3977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750" dirty="0"/>
          </a:p>
        </p:txBody>
      </p:sp>
      <p:sp>
        <p:nvSpPr>
          <p:cNvPr id="54" name="Text 48"/>
          <p:cNvSpPr txBox="1"/>
          <p:nvPr/>
        </p:nvSpPr>
        <p:spPr>
          <a:xfrm>
            <a:off x="6126480" y="41605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55" name="Text 49"/>
          <p:cNvSpPr txBox="1"/>
          <p:nvPr/>
        </p:nvSpPr>
        <p:spPr>
          <a:xfrm>
            <a:off x="786384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34%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6126480" y="43891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126480" y="4389120"/>
            <a:ext cx="2020824" cy="54864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126480" y="47091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동남아 K-뷰티인가?</a:t>
            </a:r>
            <a:endParaRPr lang="en-US" sz="750" dirty="0"/>
          </a:p>
        </p:txBody>
      </p:sp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956048"/>
            <a:ext cx="118872" cy="118872"/>
          </a:xfrm>
          <a:prstGeom prst="rect">
            <a:avLst/>
          </a:prstGeom>
        </p:spPr>
      </p:pic>
      <p:sp>
        <p:nvSpPr>
          <p:cNvPr id="60" name="Text 53"/>
          <p:cNvSpPr txBox="1"/>
          <p:nvPr/>
        </p:nvSpPr>
        <p:spPr>
          <a:xfrm>
            <a:off x="6309360" y="4937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K-뷰티에 대한 높은 관심과 충성도</a:t>
            </a:r>
            <a:endParaRPr lang="en-US" sz="750" dirty="0"/>
          </a:p>
        </p:txBody>
      </p:sp>
      <p:pic>
        <p:nvPicPr>
          <p:cNvPr id="6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202936"/>
            <a:ext cx="118872" cy="118872"/>
          </a:xfrm>
          <a:prstGeom prst="rect">
            <a:avLst/>
          </a:prstGeom>
        </p:spPr>
      </p:pic>
      <p:sp>
        <p:nvSpPr>
          <p:cNvPr id="62" name="Text 54"/>
          <p:cNvSpPr txBox="1"/>
          <p:nvPr/>
        </p:nvSpPr>
        <p:spPr>
          <a:xfrm>
            <a:off x="6309360" y="5184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쇼핑 &amp; 소셜 플랫폼 사용률 세계 최고 수준</a:t>
            </a:r>
            <a:endParaRPr lang="en-US" sz="750" dirty="0"/>
          </a:p>
        </p:txBody>
      </p:sp>
      <p:pic>
        <p:nvPicPr>
          <p:cNvPr id="6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5449824"/>
            <a:ext cx="118872" cy="118872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6309360" y="54315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생태계와 커머스 전환 가속화</a:t>
            </a:r>
            <a:endParaRPr lang="en-US" sz="750" dirty="0"/>
          </a:p>
        </p:txBody>
      </p:sp>
      <p:sp>
        <p:nvSpPr>
          <p:cNvPr id="65" name="Text 56"/>
          <p:cNvSpPr txBox="1"/>
          <p:nvPr/>
        </p:nvSpPr>
        <p:spPr>
          <a:xfrm>
            <a:off x="6126480" y="568756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Grand View Research, Statista, Redseer, KOTRA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STS IR Deck</dc:title>
  <dc:subject>PptxGenJS Presentation</dc:subject>
  <dc:creator>STS</dc:creator>
  <cp:lastModifiedBy>STS</cp:lastModifiedBy>
  <cp:revision>1</cp:revision>
  <dcterms:created xsi:type="dcterms:W3CDTF">2026-09-02T16:12:32Z</dcterms:created>
  <dcterms:modified xsi:type="dcterms:W3CDTF">2026-09-02T16:12:32Z</dcterms:modified>
</cp:coreProperties>
</file>