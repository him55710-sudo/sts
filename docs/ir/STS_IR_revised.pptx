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spc="4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</a:t>
            </a:r>
            <a:pPr indent="0" marL="0">
              <a:buNone/>
            </a:pPr>
            <a:r>
              <a:rPr lang="en-US" sz="5000" b="1" spc="400" kern="0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See it</a:t>
            </a:r>
            <a:pPr indent="0" marL="0">
              <a:buNone/>
            </a:pPr>
            <a:r>
              <a:rPr lang="en-US" sz="1500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Tap it</a:t>
            </a:r>
            <a:pPr indent="0" marL="0">
              <a:buNone/>
            </a:pPr>
            <a:r>
              <a:rPr lang="en-US" sz="1500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Shop it</a:t>
            </a:r>
            <a:pPr indent="0" marL="0">
              <a:buNone/>
            </a:pPr>
            <a:r>
              <a:rPr lang="en-US" sz="1500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546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사진과 영상 속 상품을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찾아 바로 구매로 연결합니다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콘텐츠에서 발견한 그 상품을, 검색 없이 화면에서 바로 삽니다.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크리에이터의 콘텐츠 위에 얹는 쇼핑 연결 레이어.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852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INVESTOR RELATIONS  ·  AUG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400800" y="777240"/>
            <a:ext cx="5239512" cy="5303520"/>
          </a:xfrm>
          <a:prstGeom prst="roundRect">
            <a:avLst>
              <a:gd name="adj" fmla="val 3141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</p:spPr>
      </p:sp>
      <p:pic>
        <p:nvPicPr>
          <p:cNvPr id="8" name="Image 0" descr="img/hero_t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234440"/>
            <a:ext cx="3840480" cy="3840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903720" y="9875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서비스 화면  ·  @edit.eunseo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8792084" y="2933852"/>
            <a:ext cx="260476" cy="2205076"/>
          </a:xfrm>
          <a:prstGeom prst="line">
            <a:avLst/>
          </a:prstGeom>
          <a:noFill/>
          <a:ln w="12700">
            <a:solidFill>
              <a:srgbClr val="FF2D78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8138160" y="5138928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pic>
        <p:nvPicPr>
          <p:cNvPr id="12" name="Image 1" descr="img/thumb_shi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5248656"/>
            <a:ext cx="603504" cy="60350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979408" y="52578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POLO RALPH LAUREN</a:t>
            </a:r>
            <a:endParaRPr lang="en-US" sz="700" dirty="0"/>
          </a:p>
        </p:txBody>
      </p:sp>
      <p:sp>
        <p:nvSpPr>
          <p:cNvPr id="14" name="Text 10"/>
          <p:cNvSpPr txBox="1"/>
          <p:nvPr/>
        </p:nvSpPr>
        <p:spPr>
          <a:xfrm>
            <a:off x="8979408" y="54315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클래식 핏 옥스포드 셔츠 스카이 블루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8979408" y="56418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₩198,000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9738360" y="5660136"/>
            <a:ext cx="457200" cy="155448"/>
          </a:xfrm>
          <a:prstGeom prst="roundRect">
            <a:avLst>
              <a:gd name="adj" fmla="val 50000"/>
            </a:avLst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738360" y="5660136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EXACT</a:t>
            </a:r>
            <a:endParaRPr lang="en-US" sz="600" dirty="0"/>
          </a:p>
        </p:txBody>
      </p:sp>
      <p:sp>
        <p:nvSpPr>
          <p:cNvPr id="18" name="Text 14"/>
          <p:cNvSpPr txBox="1"/>
          <p:nvPr/>
        </p:nvSpPr>
        <p:spPr>
          <a:xfrm>
            <a:off x="10241280" y="56509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 similar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9525">
            <a:solidFill>
              <a:srgbClr val="34343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4864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</a:t>
            </a:r>
            <a:endParaRPr lang="en-US" sz="750" dirty="0"/>
          </a:p>
        </p:txBody>
      </p:sp>
      <p:sp>
        <p:nvSpPr>
          <p:cNvPr id="21" name="Text 17"/>
          <p:cNvSpPr txBox="1"/>
          <p:nvPr/>
        </p:nvSpPr>
        <p:spPr>
          <a:xfrm>
            <a:off x="4270248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SEE IT. TAP IT. SHOP IT.</a:t>
            </a:r>
            <a:endParaRPr lang="en-US" sz="700" dirty="0"/>
          </a:p>
        </p:txBody>
      </p:sp>
      <p:sp>
        <p:nvSpPr>
          <p:cNvPr id="22" name="Text 18"/>
          <p:cNvSpPr txBox="1"/>
          <p:nvPr/>
        </p:nvSpPr>
        <p:spPr>
          <a:xfrm>
            <a:off x="10268712" y="6473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13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25912" y="292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INVESTOR RELATIONS  ·  AUG 2026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10268712" y="6473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13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6928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창업을 반복해 온 두 공동대표가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개발과 마케팅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나눠 맡습니다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91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KAIST Overedge, MARU 등 창업 프로그램에서 각자 회사를 만들어 온 경험을 STS에 모았습니다.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3337560" cy="40233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331720"/>
            <a:ext cx="548640" cy="548640"/>
          </a:xfrm>
          <a:prstGeom prst="ellipse">
            <a:avLst/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6888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463040" y="23500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임현수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2651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공동대표 · 개발 총괄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77240" y="3108960"/>
            <a:ext cx="2880360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3273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경력</a:t>
            </a:r>
            <a:endParaRPr lang="en-US" sz="7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547872"/>
            <a:ext cx="146304" cy="14630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05840" y="35204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KAIST Overedge 1기 참가자</a:t>
            </a:r>
            <a:endParaRPr lang="en-US" sz="9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77056"/>
            <a:ext cx="146304" cy="14630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05840" y="384962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unifoli 창업 · 운영 중</a:t>
            </a:r>
            <a:endParaRPr lang="en-US" sz="9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06240"/>
            <a:ext cx="146304" cy="1463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05840" y="41788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 제품·AI 인식·플랫폼 개발 담당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777240" y="480060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F6F6F7"/>
          </a:solidFill>
          <a:ln w="12700">
            <a:solidFill>
              <a:srgbClr val="F6F6F7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914400" y="49194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STS에서의 역할</a:t>
            </a:r>
            <a:endParaRPr lang="en-US" sz="750" dirty="0"/>
          </a:p>
        </p:txBody>
      </p:sp>
      <p:sp>
        <p:nvSpPr>
          <p:cNvPr id="25" name="Text 19"/>
          <p:cNvSpPr txBox="1"/>
          <p:nvPr/>
        </p:nvSpPr>
        <p:spPr>
          <a:xfrm>
            <a:off x="914400" y="513892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STS의 인식·매칭 엔진과 서비스 전체를 직접 개발합니다.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069080" y="2103120"/>
            <a:ext cx="3337560" cy="40233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297680" y="2331720"/>
            <a:ext cx="548640" cy="548640"/>
          </a:xfrm>
          <a:prstGeom prst="ellipse">
            <a:avLst/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246888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983480" y="23500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류현준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4983480" y="2651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공동대표 · 마케팅 총괄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4297680" y="3108960"/>
            <a:ext cx="2880360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4297680" y="3273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경력</a:t>
            </a:r>
            <a:endParaRPr lang="en-US" sz="75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3547872"/>
            <a:ext cx="146304" cy="14630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526280" y="35204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MARU에서 BINU AI 창업</a:t>
            </a:r>
            <a:endParaRPr lang="en-US" sz="9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3877056"/>
            <a:ext cx="146304" cy="14630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526280" y="384962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KAIST Overedge에서 의료 스타트업 narrow 창업</a:t>
            </a:r>
            <a:endParaRPr lang="en-US" sz="9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0" y="4206240"/>
            <a:ext cx="146304" cy="146304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4526280" y="41788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 크리에이터·브랜드 제휴 및 마케팅 담당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4297680" y="480060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F6F6F7"/>
          </a:solidFill>
          <a:ln w="12700">
            <a:solidFill>
              <a:srgbClr val="F6F6F7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4434840" y="49194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STS에서의 역할</a:t>
            </a:r>
            <a:endParaRPr lang="en-US" sz="750" dirty="0"/>
          </a:p>
        </p:txBody>
      </p:sp>
      <p:sp>
        <p:nvSpPr>
          <p:cNvPr id="41" name="Text 31"/>
          <p:cNvSpPr txBox="1"/>
          <p:nvPr/>
        </p:nvSpPr>
        <p:spPr>
          <a:xfrm>
            <a:off x="4434840" y="513892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크리에이터·제조사 제휴와 시장 진입 전략을 이끕니다.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7726680" y="2103120"/>
            <a:ext cx="3913632" cy="4023360"/>
          </a:xfrm>
          <a:prstGeom prst="roundRect">
            <a:avLst>
              <a:gd name="adj" fmla="val 2804"/>
            </a:avLst>
          </a:prstGeom>
          <a:solidFill>
            <a:srgbClr val="15151A"/>
          </a:solidFill>
          <a:ln w="12700">
            <a:solidFill>
              <a:srgbClr val="15151A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8001000" y="23042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자문위원</a:t>
            </a:r>
            <a:endParaRPr lang="en-US" sz="750" dirty="0"/>
          </a:p>
        </p:txBody>
      </p:sp>
      <p:sp>
        <p:nvSpPr>
          <p:cNvPr id="44" name="Shape 34"/>
          <p:cNvSpPr/>
          <p:nvPr/>
        </p:nvSpPr>
        <p:spPr>
          <a:xfrm>
            <a:off x="8001000" y="2624328"/>
            <a:ext cx="91440" cy="91440"/>
          </a:xfrm>
          <a:prstGeom prst="ellipse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8229600" y="2560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봄봄 대표</a:t>
            </a:r>
            <a:endParaRPr lang="en-US" sz="1000" dirty="0"/>
          </a:p>
        </p:txBody>
      </p:sp>
      <p:sp>
        <p:nvSpPr>
          <p:cNvPr id="46" name="Text 36"/>
          <p:cNvSpPr txBox="1"/>
          <p:nvPr/>
        </p:nvSpPr>
        <p:spPr>
          <a:xfrm>
            <a:off x="10149840" y="2578608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前 주식회사 나비효과 대표</a:t>
            </a:r>
            <a:endParaRPr lang="en-US" sz="850" dirty="0"/>
          </a:p>
        </p:txBody>
      </p:sp>
      <p:sp>
        <p:nvSpPr>
          <p:cNvPr id="47" name="Shape 37"/>
          <p:cNvSpPr/>
          <p:nvPr/>
        </p:nvSpPr>
        <p:spPr>
          <a:xfrm>
            <a:off x="8229600" y="2944368"/>
            <a:ext cx="3136392" cy="0"/>
          </a:xfrm>
          <a:prstGeom prst="line">
            <a:avLst/>
          </a:prstGeom>
          <a:noFill/>
          <a:ln w="9525">
            <a:solidFill>
              <a:srgbClr val="34343C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8001000" y="3099816"/>
            <a:ext cx="91440" cy="91440"/>
          </a:xfrm>
          <a:prstGeom prst="ellipse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8229600" y="30358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플립션 대표</a:t>
            </a:r>
            <a:endParaRPr lang="en-US" sz="1000" dirty="0"/>
          </a:p>
        </p:txBody>
      </p:sp>
      <p:sp>
        <p:nvSpPr>
          <p:cNvPr id="50" name="Text 40"/>
          <p:cNvSpPr txBox="1"/>
          <p:nvPr/>
        </p:nvSpPr>
        <p:spPr>
          <a:xfrm>
            <a:off x="10149840" y="3054096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스타트업 경영</a:t>
            </a:r>
            <a:endParaRPr lang="en-US" sz="850" dirty="0"/>
          </a:p>
        </p:txBody>
      </p:sp>
      <p:sp>
        <p:nvSpPr>
          <p:cNvPr id="51" name="Shape 41"/>
          <p:cNvSpPr/>
          <p:nvPr/>
        </p:nvSpPr>
        <p:spPr>
          <a:xfrm>
            <a:off x="8229600" y="3419856"/>
            <a:ext cx="3136392" cy="0"/>
          </a:xfrm>
          <a:prstGeom prst="line">
            <a:avLst/>
          </a:prstGeom>
          <a:noFill/>
          <a:ln w="9525">
            <a:solidFill>
              <a:srgbClr val="34343C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8001000" y="3575304"/>
            <a:ext cx="91440" cy="91440"/>
          </a:xfrm>
          <a:prstGeom prst="ellipse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53" name="Text 43"/>
          <p:cNvSpPr txBox="1"/>
          <p:nvPr/>
        </p:nvSpPr>
        <p:spPr>
          <a:xfrm>
            <a:off x="8229600" y="35112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장동인 교수</a:t>
            </a:r>
            <a:endParaRPr lang="en-US" sz="1000" dirty="0"/>
          </a:p>
        </p:txBody>
      </p:sp>
      <p:sp>
        <p:nvSpPr>
          <p:cNvPr id="54" name="Text 44"/>
          <p:cNvSpPr txBox="1"/>
          <p:nvPr/>
        </p:nvSpPr>
        <p:spPr>
          <a:xfrm>
            <a:off x="10149840" y="3529584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KAIST</a:t>
            </a:r>
            <a:endParaRPr lang="en-US" sz="850" dirty="0"/>
          </a:p>
        </p:txBody>
      </p:sp>
      <p:sp>
        <p:nvSpPr>
          <p:cNvPr id="55" name="Shape 45"/>
          <p:cNvSpPr/>
          <p:nvPr/>
        </p:nvSpPr>
        <p:spPr>
          <a:xfrm>
            <a:off x="8229600" y="3895344"/>
            <a:ext cx="3136392" cy="0"/>
          </a:xfrm>
          <a:prstGeom prst="line">
            <a:avLst/>
          </a:prstGeom>
          <a:noFill/>
          <a:ln w="9525">
            <a:solidFill>
              <a:srgbClr val="34343C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001000" y="4050792"/>
            <a:ext cx="91440" cy="91440"/>
          </a:xfrm>
          <a:prstGeom prst="ellipse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57" name="Text 47"/>
          <p:cNvSpPr txBox="1"/>
          <p:nvPr/>
        </p:nvSpPr>
        <p:spPr>
          <a:xfrm>
            <a:off x="8229600" y="398678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서울패션허브 센터장</a:t>
            </a:r>
            <a:endParaRPr lang="en-US" sz="1000" dirty="0"/>
          </a:p>
        </p:txBody>
      </p:sp>
      <p:sp>
        <p:nvSpPr>
          <p:cNvPr id="58" name="Text 48"/>
          <p:cNvSpPr txBox="1"/>
          <p:nvPr/>
        </p:nvSpPr>
        <p:spPr>
          <a:xfrm>
            <a:off x="10149840" y="4005072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패션·유통 네트워크</a:t>
            </a:r>
            <a:endParaRPr lang="en-US" sz="850" dirty="0"/>
          </a:p>
        </p:txBody>
      </p:sp>
      <p:sp>
        <p:nvSpPr>
          <p:cNvPr id="59" name="Shape 49"/>
          <p:cNvSpPr/>
          <p:nvPr/>
        </p:nvSpPr>
        <p:spPr>
          <a:xfrm>
            <a:off x="8229600" y="4370832"/>
            <a:ext cx="3136392" cy="0"/>
          </a:xfrm>
          <a:prstGeom prst="line">
            <a:avLst/>
          </a:prstGeom>
          <a:noFill/>
          <a:ln w="9525">
            <a:solidFill>
              <a:srgbClr val="34343C"/>
            </a:solidFill>
            <a:prstDash val="solid"/>
          </a:ln>
        </p:spPr>
      </p:sp>
      <p:sp>
        <p:nvSpPr>
          <p:cNvPr id="60" name="Shape 50"/>
          <p:cNvSpPr/>
          <p:nvPr/>
        </p:nvSpPr>
        <p:spPr>
          <a:xfrm>
            <a:off x="8001000" y="4526280"/>
            <a:ext cx="91440" cy="91440"/>
          </a:xfrm>
          <a:prstGeom prst="ellipse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61" name="Text 51"/>
          <p:cNvSpPr txBox="1"/>
          <p:nvPr/>
        </p:nvSpPr>
        <p:spPr>
          <a:xfrm>
            <a:off x="8229600" y="44622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우수한 대표</a:t>
            </a:r>
            <a:endParaRPr lang="en-US" sz="1000" dirty="0"/>
          </a:p>
        </p:txBody>
      </p:sp>
      <p:sp>
        <p:nvSpPr>
          <p:cNvPr id="62" name="Text 52"/>
          <p:cNvSpPr txBox="1"/>
          <p:nvPr/>
        </p:nvSpPr>
        <p:spPr>
          <a:xfrm>
            <a:off x="10149840" y="448056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마인드프린트</a:t>
            </a:r>
            <a:endParaRPr lang="en-US" sz="850" dirty="0"/>
          </a:p>
        </p:txBody>
      </p:sp>
      <p:sp>
        <p:nvSpPr>
          <p:cNvPr id="63" name="Shape 53"/>
          <p:cNvSpPr/>
          <p:nvPr/>
        </p:nvSpPr>
        <p:spPr>
          <a:xfrm>
            <a:off x="8001000" y="5029200"/>
            <a:ext cx="3364992" cy="0"/>
          </a:xfrm>
          <a:prstGeom prst="line">
            <a:avLst/>
          </a:prstGeom>
          <a:noFill/>
          <a:ln w="9525">
            <a:solidFill>
              <a:srgbClr val="34343C"/>
            </a:solidFill>
            <a:prstDash val="solid"/>
          </a:ln>
        </p:spPr>
      </p:sp>
      <p:sp>
        <p:nvSpPr>
          <p:cNvPr id="64" name="Text 54"/>
          <p:cNvSpPr txBox="1"/>
          <p:nvPr/>
        </p:nvSpPr>
        <p:spPr>
          <a:xfrm>
            <a:off x="8001000" y="51937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멘토</a:t>
            </a:r>
            <a:endParaRPr lang="en-US" sz="750" dirty="0"/>
          </a:p>
        </p:txBody>
      </p:sp>
      <p:sp>
        <p:nvSpPr>
          <p:cNvPr id="65" name="Text 55"/>
          <p:cNvSpPr txBox="1"/>
          <p:nvPr/>
        </p:nvSpPr>
        <p:spPr>
          <a:xfrm>
            <a:off x="8229600" y="5440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정영국 교수</a:t>
            </a:r>
            <a:endParaRPr lang="en-US" sz="1000" dirty="0"/>
          </a:p>
        </p:txBody>
      </p:sp>
      <p:sp>
        <p:nvSpPr>
          <p:cNvPr id="66" name="Text 56"/>
          <p:cNvSpPr txBox="1"/>
          <p:nvPr/>
        </p:nvSpPr>
        <p:spPr>
          <a:xfrm>
            <a:off x="10149840" y="5458968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정화예술대학교</a:t>
            </a:r>
            <a:endParaRPr lang="en-US" sz="850" dirty="0"/>
          </a:p>
        </p:txBody>
      </p:sp>
      <p:sp>
        <p:nvSpPr>
          <p:cNvPr id="67" name="Text 57"/>
          <p:cNvSpPr txBox="1"/>
          <p:nvPr/>
        </p:nvSpPr>
        <p:spPr>
          <a:xfrm>
            <a:off x="8001000" y="577900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경영·패션·기술·브랜딩 분야 자문을 받아 제품과 시장 진입 전략을 검증합니다.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INVESTMENT THESIS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25912" y="292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INVESTOR RELATIONS  ·  AUG 2026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10268712" y="6473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13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6928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사람들은 SNS에서 상품을 발견하지만,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구매는 아직도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검색에서 시작됩니다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7830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STS는 콘텐츠 속 상품을 인식하고, 세분화·매칭해 본 적 있는 그 상품을 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 구매로 연결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합니다. 그 연결 위에서 판매 수수료와 광고로 수익을 만듭니다.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06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83464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발견(Discovery)은 이미 콘텐츠 안에서 일어납니다. 문제는 “무엇을 샀는가”가 아니라 </a:t>
            </a:r>
            <a:pPr indent="0" marL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장면의 어떤 객체가 구매 의도를 만들었는가</a:t>
            </a:r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아무도 구조화하지 못한다는 것입니다. 그래서 사용자는 화면을 벗어나 검색창으로 갑니다.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8620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STS가 화면 위에서 해답을 줍니다. </a:t>
            </a:r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속 객체를 인식하고 상품으로 연결해, 발견에서 구매까지의 단계를 한 번에 만듭니다. 거래가 일어나면 수수료가 발생하고, 그 과정에서 “장면·상품·구매” 데이터가 쌓입니다.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3단계로 연결되는 구매 여정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210312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5166360"/>
            <a:ext cx="310896" cy="310896"/>
          </a:xfrm>
          <a:prstGeom prst="ellipse">
            <a:avLst/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5244084"/>
            <a:ext cx="155448" cy="15544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13232" y="5532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속 상품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13232" y="5779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속 객체 인식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2651760" y="5486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880360" y="5029200"/>
            <a:ext cx="210312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44952" y="5166360"/>
            <a:ext cx="310896" cy="310896"/>
          </a:xfrm>
          <a:prstGeom prst="ellipse">
            <a:avLst/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676" y="5244084"/>
            <a:ext cx="155448" cy="15544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3044952" y="5532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카드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3044952" y="5779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정확히 매칭된 상품 정보 제공</a:t>
            </a:r>
            <a:endParaRPr lang="en-US" sz="750" dirty="0"/>
          </a:p>
        </p:txBody>
      </p:sp>
      <p:sp>
        <p:nvSpPr>
          <p:cNvPr id="26" name="Text 22"/>
          <p:cNvSpPr txBox="1"/>
          <p:nvPr/>
        </p:nvSpPr>
        <p:spPr>
          <a:xfrm>
            <a:off x="4983480" y="5486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5212080" y="5029200"/>
            <a:ext cx="210312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376672" y="5166360"/>
            <a:ext cx="310896" cy="310896"/>
          </a:xfrm>
          <a:prstGeom prst="ellipse">
            <a:avLst/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396" y="5244084"/>
            <a:ext cx="155448" cy="155448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5376672" y="5532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 연결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5376672" y="5779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 구매로 연결</a:t>
            </a:r>
            <a:endParaRPr lang="en-US" sz="750" dirty="0"/>
          </a:p>
        </p:txBody>
      </p:sp>
      <p:sp>
        <p:nvSpPr>
          <p:cNvPr id="32" name="Shape 27"/>
          <p:cNvSpPr/>
          <p:nvPr/>
        </p:nvSpPr>
        <p:spPr>
          <a:xfrm>
            <a:off x="7726680" y="1783080"/>
            <a:ext cx="3913632" cy="4361688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001000" y="2011680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비주얼 검색 규모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8001000" y="2267712"/>
            <a:ext cx="3364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200억 회</a:t>
            </a:r>
            <a:endParaRPr lang="en-US" sz="2400" dirty="0"/>
          </a:p>
        </p:txBody>
      </p:sp>
      <p:sp>
        <p:nvSpPr>
          <p:cNvPr id="35" name="Text 30"/>
          <p:cNvSpPr txBox="1"/>
          <p:nvPr/>
        </p:nvSpPr>
        <p:spPr>
          <a:xfrm>
            <a:off x="8001000" y="2816352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렌즈 비주얼 검색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8001000" y="3200400"/>
            <a:ext cx="336499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8001000" y="3429000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쇼핑 의도 비중</a:t>
            </a:r>
            <a:endParaRPr lang="en-US" sz="750" dirty="0"/>
          </a:p>
        </p:txBody>
      </p:sp>
      <p:sp>
        <p:nvSpPr>
          <p:cNvPr id="38" name="Text 33"/>
          <p:cNvSpPr txBox="1"/>
          <p:nvPr/>
        </p:nvSpPr>
        <p:spPr>
          <a:xfrm>
            <a:off x="8001000" y="3685032"/>
            <a:ext cx="3364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20%</a:t>
            </a:r>
            <a:endParaRPr lang="en-US" sz="2400" dirty="0"/>
          </a:p>
        </p:txBody>
      </p:sp>
      <p:sp>
        <p:nvSpPr>
          <p:cNvPr id="39" name="Text 34"/>
          <p:cNvSpPr txBox="1"/>
          <p:nvPr/>
        </p:nvSpPr>
        <p:spPr>
          <a:xfrm>
            <a:off x="8001000" y="4233672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쇼핑 관련 검색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8001000" y="4617720"/>
            <a:ext cx="336499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8001000" y="4846320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사용자 경험</a:t>
            </a:r>
            <a:endParaRPr lang="en-US" sz="750" dirty="0"/>
          </a:p>
        </p:txBody>
      </p:sp>
      <p:sp>
        <p:nvSpPr>
          <p:cNvPr id="42" name="Text 37"/>
          <p:cNvSpPr txBox="1"/>
          <p:nvPr/>
        </p:nvSpPr>
        <p:spPr>
          <a:xfrm>
            <a:off x="8001000" y="5102352"/>
            <a:ext cx="3364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 연결</a:t>
            </a:r>
            <a:endParaRPr lang="en-US" sz="2400" dirty="0"/>
          </a:p>
        </p:txBody>
      </p:sp>
      <p:sp>
        <p:nvSpPr>
          <p:cNvPr id="43" name="Text 38"/>
          <p:cNvSpPr txBox="1"/>
          <p:nvPr/>
        </p:nvSpPr>
        <p:spPr>
          <a:xfrm>
            <a:off x="8001000" y="5650992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객체 인식 → 상품 매칭 → 구매 연결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25912" y="292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INVESTOR RELATIONS  ·  AUG 2026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10268712" y="6473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13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6928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보이는 상품을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 살 수 없다는 것이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문제입니다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91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콘텐츠를 보고 사고 싶어도, 결국 검색과 비교의 번거로운 과정을 다시 거쳐야 합니다. 세 주체 모두 같은 지점에서 막힙니다.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356616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331720"/>
            <a:ext cx="365760" cy="365760"/>
          </a:xfrm>
          <a:prstGeom prst="ellipse">
            <a:avLst/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23160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77240" y="2788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017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콘텐츠를 만든 후, 링크를 찾고 붙이는 데 시간과 노력이 듭니다.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링크를 일일이 찾고, 복사하고, 콘텐츠에 첨부하는 과정이 반복됩니다.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77240" y="4069080"/>
            <a:ext cx="3108960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87952"/>
            <a:ext cx="146304" cy="14630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87552" y="4160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창작에 집중하기 어렵습니다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311396" y="2103120"/>
            <a:ext cx="356616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39996" y="2331720"/>
            <a:ext cx="365760" cy="365760"/>
          </a:xfrm>
          <a:prstGeom prst="ellipse">
            <a:avLst/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436" y="2423160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539996" y="2788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쇼퍼</a:t>
            </a:r>
            <a:endParaRPr lang="en-US" sz="750" dirty="0"/>
          </a:p>
        </p:txBody>
      </p:sp>
      <p:sp>
        <p:nvSpPr>
          <p:cNvPr id="23" name="Text 18"/>
          <p:cNvSpPr txBox="1"/>
          <p:nvPr/>
        </p:nvSpPr>
        <p:spPr>
          <a:xfrm>
            <a:off x="4539996" y="3017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영상이나 사진에서 본 상품을 사고 싶어도, 다시 검색해야 찾을 수 있습니다.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4539996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기억에 의존해 키워드를 입력하고, 비슷한 상품을 비교해야 합니다.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4539996" y="4069080"/>
            <a:ext cx="3108960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996" y="4187952"/>
            <a:ext cx="146304" cy="14630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4750308" y="4160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사고 싶은 타이밍을 놓칩니다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8074152" y="2103120"/>
            <a:ext cx="356616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302752" y="2331720"/>
            <a:ext cx="365760" cy="365760"/>
          </a:xfrm>
          <a:prstGeom prst="ellipse">
            <a:avLst/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2423160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302752" y="2788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</a:t>
            </a:r>
            <a:endParaRPr lang="en-US" sz="750" dirty="0"/>
          </a:p>
        </p:txBody>
      </p:sp>
      <p:sp>
        <p:nvSpPr>
          <p:cNvPr id="32" name="Text 25"/>
          <p:cNvSpPr txBox="1"/>
          <p:nvPr/>
        </p:nvSpPr>
        <p:spPr>
          <a:xfrm>
            <a:off x="8302752" y="3017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중 어떤 상품이 구매로 이어졌는지 정확히 알 수 없습니다.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8302752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성과의 원인을 파악하기 어려워, 마케팅 효율을 높이기 힘듭니다.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8302752" y="4069080"/>
            <a:ext cx="3108960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4187952"/>
            <a:ext cx="146304" cy="14630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513064" y="4160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기반 의사결정이 어렵습니다</a:t>
            </a:r>
            <a:endParaRPr lang="en-US" sz="800" dirty="0"/>
          </a:p>
        </p:txBody>
      </p:sp>
      <p:sp>
        <p:nvSpPr>
          <p:cNvPr id="37" name="Shape 29"/>
          <p:cNvSpPr/>
          <p:nvPr/>
        </p:nvSpPr>
        <p:spPr>
          <a:xfrm>
            <a:off x="548640" y="475488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EEEEF1"/>
          </a:solidFill>
          <a:ln w="12700">
            <a:solidFill>
              <a:srgbClr val="EEEEF1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777240" y="4937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방식</a:t>
            </a:r>
            <a:endParaRPr lang="en-US" sz="750" dirty="0"/>
          </a:p>
        </p:txBody>
      </p:sp>
      <p:sp>
        <p:nvSpPr>
          <p:cNvPr id="39" name="Text 31"/>
          <p:cNvSpPr txBox="1"/>
          <p:nvPr/>
        </p:nvSpPr>
        <p:spPr>
          <a:xfrm>
            <a:off x="777240" y="5166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 · 상품 카드 · 검색창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777240" y="5486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밖으로 나가 여러 단계를 거쳐야 하는 불편한 쇼핑 경험</a:t>
            </a:r>
            <a:endParaRPr lang="en-US" sz="850" dirty="0"/>
          </a:p>
        </p:txBody>
      </p:sp>
      <p:sp>
        <p:nvSpPr>
          <p:cNvPr id="41" name="Text 33"/>
          <p:cNvSpPr txBox="1"/>
          <p:nvPr/>
        </p:nvSpPr>
        <p:spPr>
          <a:xfrm>
            <a:off x="5943600" y="53309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6217920" y="4754880"/>
            <a:ext cx="5422392" cy="1371600"/>
          </a:xfrm>
          <a:prstGeom prst="roundRect">
            <a:avLst>
              <a:gd name="adj" fmla="val 8000"/>
            </a:avLst>
          </a:prstGeom>
          <a:solidFill>
            <a:srgbClr val="15151A"/>
          </a:solidFill>
          <a:ln w="12700">
            <a:solidFill>
              <a:srgbClr val="15151A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6446520" y="4937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 방식</a:t>
            </a:r>
            <a:endParaRPr lang="en-US" sz="750" dirty="0"/>
          </a:p>
        </p:txBody>
      </p:sp>
      <p:sp>
        <p:nvSpPr>
          <p:cNvPr id="44" name="Text 36"/>
          <p:cNvSpPr txBox="1"/>
          <p:nvPr/>
        </p:nvSpPr>
        <p:spPr>
          <a:xfrm>
            <a:off x="6446520" y="516636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보이는 상품을 바로 누르는 쇼핑</a:t>
            </a:r>
            <a:endParaRPr lang="en-US" sz="1200" dirty="0"/>
          </a:p>
        </p:txBody>
      </p:sp>
      <p:sp>
        <p:nvSpPr>
          <p:cNvPr id="45" name="Text 37"/>
          <p:cNvSpPr txBox="1"/>
          <p:nvPr/>
        </p:nvSpPr>
        <p:spPr>
          <a:xfrm>
            <a:off x="6446520" y="548640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콘텐츠를 보던 흐름 그대로, 원하는 상품을 화면 위에서 즉시 구매</a:t>
            </a:r>
            <a:endParaRPr lang="en-US" sz="850" dirty="0"/>
          </a:p>
        </p:txBody>
      </p:sp>
      <p:pic>
        <p:nvPicPr>
          <p:cNvPr id="46" name="Image 6" descr="img/screen_pos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4837176"/>
            <a:ext cx="109728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25912" y="292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INVESTOR RELATIONS  ·  AUG 2026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10268712" y="6473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13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6928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STS는 사진과 영상 속 상품을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 살 수 있게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만듭니다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280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사진이나 영상 속 원하는 상품을 터치하면, 가장 정확한 상품을 찾아 구매까지 연결합니다.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1691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178308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01168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21792" y="237744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업로드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621792" y="260604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또는 영상 업로드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2221992" y="2240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428646" y="1691640"/>
            <a:ext cx="1691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538374" y="178308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7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306" y="201168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501798" y="237744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찾기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2501798" y="260604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상품 탐지</a:t>
            </a:r>
            <a:endParaRPr lang="en-US" sz="700" dirty="0"/>
          </a:p>
        </p:txBody>
      </p:sp>
      <p:sp>
        <p:nvSpPr>
          <p:cNvPr id="21" name="Text 17"/>
          <p:cNvSpPr txBox="1"/>
          <p:nvPr/>
        </p:nvSpPr>
        <p:spPr>
          <a:xfrm>
            <a:off x="4101998" y="2240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308653" y="1691640"/>
            <a:ext cx="1691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418381" y="178308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7313" y="201168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381805" y="237744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영역 구분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4381805" y="260604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상품 모양을 정확히 구분</a:t>
            </a:r>
            <a:endParaRPr lang="en-US" sz="700" dirty="0"/>
          </a:p>
        </p:txBody>
      </p:sp>
      <p:sp>
        <p:nvSpPr>
          <p:cNvPr id="27" name="Text 22"/>
          <p:cNvSpPr txBox="1"/>
          <p:nvPr/>
        </p:nvSpPr>
        <p:spPr>
          <a:xfrm>
            <a:off x="5982005" y="2240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188659" y="1691640"/>
            <a:ext cx="16916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298387" y="178308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7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7319" y="201168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261811" y="237744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매칭</a:t>
            </a:r>
            <a:endParaRPr lang="en-US" sz="950" dirty="0"/>
          </a:p>
        </p:txBody>
      </p:sp>
      <p:sp>
        <p:nvSpPr>
          <p:cNvPr id="32" name="Text 26"/>
          <p:cNvSpPr txBox="1"/>
          <p:nvPr/>
        </p:nvSpPr>
        <p:spPr>
          <a:xfrm>
            <a:off x="6261811" y="260604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정확도 높은 상품과 매칭</a:t>
            </a:r>
            <a:endParaRPr lang="en-US" sz="700" dirty="0"/>
          </a:p>
        </p:txBody>
      </p:sp>
      <p:sp>
        <p:nvSpPr>
          <p:cNvPr id="33" name="Text 27"/>
          <p:cNvSpPr txBox="1"/>
          <p:nvPr/>
        </p:nvSpPr>
        <p:spPr>
          <a:xfrm>
            <a:off x="7862011" y="2240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8068666" y="1691640"/>
            <a:ext cx="1691640" cy="1325880"/>
          </a:xfrm>
          <a:prstGeom prst="roundRect">
            <a:avLst>
              <a:gd name="adj" fmla="val 6897"/>
            </a:avLst>
          </a:prstGeom>
          <a:solidFill>
            <a:srgbClr val="FFEAF2"/>
          </a:solidFill>
          <a:ln w="9525">
            <a:solidFill>
              <a:srgbClr val="FFC2D8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8178394" y="178308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7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326" y="2011680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141818" y="237744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터치</a:t>
            </a:r>
            <a:endParaRPr lang="en-US" sz="950" dirty="0"/>
          </a:p>
        </p:txBody>
      </p:sp>
      <p:sp>
        <p:nvSpPr>
          <p:cNvPr id="38" name="Text 31"/>
          <p:cNvSpPr txBox="1"/>
          <p:nvPr/>
        </p:nvSpPr>
        <p:spPr>
          <a:xfrm>
            <a:off x="8141818" y="260604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구분된 영역을 터치</a:t>
            </a:r>
            <a:endParaRPr lang="en-US" sz="700" dirty="0"/>
          </a:p>
        </p:txBody>
      </p:sp>
      <p:sp>
        <p:nvSpPr>
          <p:cNvPr id="39" name="Text 32"/>
          <p:cNvSpPr txBox="1"/>
          <p:nvPr/>
        </p:nvSpPr>
        <p:spPr>
          <a:xfrm>
            <a:off x="9742018" y="2240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9948672" y="1691640"/>
            <a:ext cx="1691640" cy="1325880"/>
          </a:xfrm>
          <a:prstGeom prst="roundRect">
            <a:avLst>
              <a:gd name="adj" fmla="val 6897"/>
            </a:avLst>
          </a:prstGeom>
          <a:solidFill>
            <a:srgbClr val="FFEAF2"/>
          </a:solidFill>
          <a:ln w="9525">
            <a:solidFill>
              <a:srgbClr val="FFC2D8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10058400" y="178308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70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7332" y="2011680"/>
            <a:ext cx="274320" cy="274320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10021824" y="237744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 연결</a:t>
            </a:r>
            <a:endParaRPr lang="en-US" sz="950" dirty="0"/>
          </a:p>
        </p:txBody>
      </p:sp>
      <p:sp>
        <p:nvSpPr>
          <p:cNvPr id="44" name="Text 36"/>
          <p:cNvSpPr txBox="1"/>
          <p:nvPr/>
        </p:nvSpPr>
        <p:spPr>
          <a:xfrm>
            <a:off x="10021824" y="260604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페이지로 이동</a:t>
            </a:r>
            <a:endParaRPr lang="en-US" sz="700" dirty="0"/>
          </a:p>
        </p:txBody>
      </p:sp>
      <p:sp>
        <p:nvSpPr>
          <p:cNvPr id="45" name="Shape 37"/>
          <p:cNvSpPr/>
          <p:nvPr/>
        </p:nvSpPr>
        <p:spPr>
          <a:xfrm>
            <a:off x="548640" y="3291840"/>
            <a:ext cx="51206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960120" y="34564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네모 박스 방식</a:t>
            </a:r>
            <a:endParaRPr lang="en-US" sz="850" dirty="0"/>
          </a:p>
        </p:txBody>
      </p:sp>
      <p:sp>
        <p:nvSpPr>
          <p:cNvPr id="47" name="Text 39"/>
          <p:cNvSpPr txBox="1"/>
          <p:nvPr/>
        </p:nvSpPr>
        <p:spPr>
          <a:xfrm>
            <a:off x="3291840" y="34564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 방식</a:t>
            </a:r>
            <a:endParaRPr lang="en-US" sz="850" dirty="0"/>
          </a:p>
        </p:txBody>
      </p:sp>
      <p:pic>
        <p:nvPicPr>
          <p:cNvPr id="48" name="Image 6" descr="img/cmp_bbox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3703320"/>
            <a:ext cx="1965960" cy="1600200"/>
          </a:xfrm>
          <a:prstGeom prst="rect">
            <a:avLst/>
          </a:prstGeom>
        </p:spPr>
      </p:pic>
      <p:pic>
        <p:nvPicPr>
          <p:cNvPr id="49" name="Image 7" descr="img/cmp_pol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840" y="3703320"/>
            <a:ext cx="1965960" cy="1600200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960120" y="53492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정확하지 않은 영역</a:t>
            </a:r>
            <a:endParaRPr lang="en-US" sz="750" dirty="0"/>
          </a:p>
        </p:txBody>
      </p:sp>
      <p:sp>
        <p:nvSpPr>
          <p:cNvPr id="51" name="Text 41"/>
          <p:cNvSpPr txBox="1"/>
          <p:nvPr/>
        </p:nvSpPr>
        <p:spPr>
          <a:xfrm>
            <a:off x="3291840" y="53492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상품 모양을 정확히</a:t>
            </a:r>
            <a:endParaRPr lang="en-US" sz="750" dirty="0"/>
          </a:p>
        </p:txBody>
      </p:sp>
      <p:sp>
        <p:nvSpPr>
          <p:cNvPr id="52" name="Text 42"/>
          <p:cNvSpPr txBox="1"/>
          <p:nvPr/>
        </p:nvSpPr>
        <p:spPr>
          <a:xfrm>
            <a:off x="603504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STS는 실제 상품의 모양을 정확히 구분합니다</a:t>
            </a:r>
            <a:endParaRPr lang="en-US" sz="1200" dirty="0"/>
          </a:p>
        </p:txBody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0" y="3794760"/>
            <a:ext cx="146304" cy="146304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6263640" y="3767328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네모 박스가 아닌, 실제 상품의 실루엣(모양)을 따라 영역을 구분합니다.</a:t>
            </a:r>
            <a:endParaRPr lang="en-US" sz="900" dirty="0"/>
          </a:p>
        </p:txBody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5040" y="4160520"/>
            <a:ext cx="146304" cy="146304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6263640" y="4133088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정확한 매칭으로 원하는 상품을 빠르게 찾을 수 있습니다.</a:t>
            </a:r>
            <a:endParaRPr lang="en-US" sz="900" dirty="0"/>
          </a:p>
        </p:txBody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35040" y="4526280"/>
            <a:ext cx="146304" cy="146304"/>
          </a:xfrm>
          <a:prstGeom prst="rect">
            <a:avLst/>
          </a:prstGeom>
        </p:spPr>
      </p:pic>
      <p:sp>
        <p:nvSpPr>
          <p:cNvPr id="58" name="Text 45"/>
          <p:cNvSpPr txBox="1"/>
          <p:nvPr/>
        </p:nvSpPr>
        <p:spPr>
          <a:xfrm>
            <a:off x="6263640" y="4498848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매칭 결과가 ‘정확히 일치’인지 ‘비슷한 상품’인지 한눈에 확인할 수 있습니다.</a:t>
            </a:r>
            <a:endParaRPr lang="en-US" sz="900" dirty="0"/>
          </a:p>
        </p:txBody>
      </p:sp>
      <p:sp>
        <p:nvSpPr>
          <p:cNvPr id="59" name="Shape 46"/>
          <p:cNvSpPr/>
          <p:nvPr/>
        </p:nvSpPr>
        <p:spPr>
          <a:xfrm>
            <a:off x="6035040" y="4983480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60" name="Text 47"/>
          <p:cNvSpPr txBox="1"/>
          <p:nvPr/>
        </p:nvSpPr>
        <p:spPr>
          <a:xfrm>
            <a:off x="6035040" y="498348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정확히 일치</a:t>
            </a:r>
            <a:endParaRPr lang="en-US" sz="700" dirty="0"/>
          </a:p>
        </p:txBody>
      </p:sp>
      <p:sp>
        <p:nvSpPr>
          <p:cNvPr id="61" name="Text 48"/>
          <p:cNvSpPr txBox="1"/>
          <p:nvPr/>
        </p:nvSpPr>
        <p:spPr>
          <a:xfrm>
            <a:off x="6903720" y="49926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동일한 상품</a:t>
            </a:r>
            <a:endParaRPr lang="en-US" sz="750" dirty="0"/>
          </a:p>
        </p:txBody>
      </p:sp>
      <p:sp>
        <p:nvSpPr>
          <p:cNvPr id="62" name="Shape 49"/>
          <p:cNvSpPr/>
          <p:nvPr/>
        </p:nvSpPr>
        <p:spPr>
          <a:xfrm>
            <a:off x="6035040" y="5285232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50"/>
          <p:cNvSpPr txBox="1"/>
          <p:nvPr/>
        </p:nvSpPr>
        <p:spPr>
          <a:xfrm>
            <a:off x="6035040" y="52852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비슷한 상품</a:t>
            </a:r>
            <a:endParaRPr lang="en-US" sz="700" dirty="0"/>
          </a:p>
        </p:txBody>
      </p:sp>
      <p:sp>
        <p:nvSpPr>
          <p:cNvPr id="64" name="Shape 51"/>
          <p:cNvSpPr/>
          <p:nvPr/>
        </p:nvSpPr>
        <p:spPr>
          <a:xfrm>
            <a:off x="6035040" y="5285232"/>
            <a:ext cx="777240" cy="201168"/>
          </a:xfrm>
          <a:prstGeom prst="roundRect">
            <a:avLst>
              <a:gd name="adj" fmla="val 50000"/>
            </a:avLst>
          </a:prstGeom>
          <a:ln w="9525">
            <a:solidFill>
              <a:srgbClr val="E4E4E8"/>
            </a:solidFill>
            <a:prstDash val="solid"/>
          </a:ln>
        </p:spPr>
      </p:sp>
      <p:sp>
        <p:nvSpPr>
          <p:cNvPr id="65" name="Text 52"/>
          <p:cNvSpPr txBox="1"/>
          <p:nvPr/>
        </p:nvSpPr>
        <p:spPr>
          <a:xfrm>
            <a:off x="6903720" y="529437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유사한 스타일의 추천 상품</a:t>
            </a:r>
            <a:endParaRPr lang="en-US" sz="750" dirty="0"/>
          </a:p>
        </p:txBody>
      </p:sp>
      <p:sp>
        <p:nvSpPr>
          <p:cNvPr id="66" name="Text 53"/>
          <p:cNvSpPr txBox="1"/>
          <p:nvPr/>
        </p:nvSpPr>
        <p:spPr>
          <a:xfrm>
            <a:off x="8869680" y="4983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 확인</a:t>
            </a:r>
            <a:endParaRPr lang="en-US" sz="750" dirty="0"/>
          </a:p>
        </p:txBody>
      </p:sp>
      <p:sp>
        <p:nvSpPr>
          <p:cNvPr id="67" name="Text 54"/>
          <p:cNvSpPr txBox="1"/>
          <p:nvPr/>
        </p:nvSpPr>
        <p:spPr>
          <a:xfrm>
            <a:off x="8869680" y="5166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추천하면, 크리에이터가 최종 확인</a:t>
            </a:r>
            <a:endParaRPr lang="en-US" sz="750" dirty="0"/>
          </a:p>
        </p:txBody>
      </p:sp>
      <p:sp>
        <p:nvSpPr>
          <p:cNvPr id="68" name="Shape 55"/>
          <p:cNvSpPr/>
          <p:nvPr/>
        </p:nvSpPr>
        <p:spPr>
          <a:xfrm>
            <a:off x="548640" y="5760720"/>
            <a:ext cx="11091672" cy="475488"/>
          </a:xfrm>
          <a:prstGeom prst="roundRect">
            <a:avLst>
              <a:gd name="adj" fmla="val 19231"/>
            </a:avLst>
          </a:prstGeom>
          <a:solidFill>
            <a:srgbClr val="15151A"/>
          </a:solidFill>
          <a:ln w="12700">
            <a:solidFill>
              <a:srgbClr val="15151A"/>
            </a:solidFill>
            <a:prstDash val="solid"/>
          </a:ln>
        </p:spPr>
      </p:sp>
      <p:sp>
        <p:nvSpPr>
          <p:cNvPr id="69" name="Shape 56"/>
          <p:cNvSpPr/>
          <p:nvPr/>
        </p:nvSpPr>
        <p:spPr>
          <a:xfrm>
            <a:off x="685800" y="5843016"/>
            <a:ext cx="310896" cy="310896"/>
          </a:xfrm>
          <a:prstGeom prst="ellipse">
            <a:avLst/>
          </a:prstGeom>
          <a:solidFill>
            <a:srgbClr val="26262E"/>
          </a:solidFill>
          <a:ln w="12700">
            <a:solidFill>
              <a:srgbClr val="26262E"/>
            </a:solidFill>
            <a:prstDash val="solid"/>
          </a:ln>
        </p:spPr>
      </p:sp>
      <p:pic>
        <p:nvPicPr>
          <p:cNvPr id="7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524" y="5920740"/>
            <a:ext cx="155448" cy="155448"/>
          </a:xfrm>
          <a:prstGeom prst="rect">
            <a:avLst/>
          </a:prstGeom>
        </p:spPr>
      </p:pic>
      <p:sp>
        <p:nvSpPr>
          <p:cNvPr id="71" name="Text 57"/>
          <p:cNvSpPr txBox="1"/>
          <p:nvPr/>
        </p:nvSpPr>
        <p:spPr>
          <a:xfrm>
            <a:off x="1115568" y="5760720"/>
            <a:ext cx="10360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후보 상품을 추천하고, 크리에이터가 최종 확인합니다. </a:t>
            </a:r>
            <a:pPr indent="0" marL="0">
              <a:buNone/>
            </a:pPr>
            <a:r>
              <a:rPr lang="en-US" sz="85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정확도 높은 기술과 사람의 검수를 더해, 신뢰할 수 있는 결과를 제공합니다.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TECHNOLOGY MOAT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25912" y="292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INVESTOR RELATIONS  ·  AUG 2026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10268712" y="6473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13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6928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기술보다 중요한 것은,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정확히 연결되는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 데이터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91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모델은 교체 가능하지만, 구매와 연결된 데이터는 시간이 지날수록 더 강력해집니다.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1783080" cy="25146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1308" y="2240280"/>
            <a:ext cx="237744" cy="237744"/>
          </a:xfrm>
          <a:prstGeom prst="ellipse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1308" y="2240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560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속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찾기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315468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85800" y="37490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화면에서 상품이 보이는 부분을 빠짐없이 찾아냅니다.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2331720" y="320040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468880" y="2103120"/>
            <a:ext cx="1783080" cy="25146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41548" y="2240280"/>
            <a:ext cx="237744" cy="237744"/>
          </a:xfrm>
          <a:prstGeom prst="ellipse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41548" y="2240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2560320" y="2560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모양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정확히 구분</a:t>
            </a:r>
            <a:endParaRPr lang="en-US" sz="9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20" y="315468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2606040" y="37490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옷, 신발, 가방 등 겹치거나 가려져도 정확히 구분합니다.</a:t>
            </a:r>
            <a:endParaRPr lang="en-US" sz="750" dirty="0"/>
          </a:p>
        </p:txBody>
      </p:sp>
      <p:sp>
        <p:nvSpPr>
          <p:cNvPr id="23" name="Text 19"/>
          <p:cNvSpPr txBox="1"/>
          <p:nvPr/>
        </p:nvSpPr>
        <p:spPr>
          <a:xfrm>
            <a:off x="4251960" y="320040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389120" y="2103120"/>
            <a:ext cx="1783080" cy="25146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161788" y="2240280"/>
            <a:ext cx="237744" cy="237744"/>
          </a:xfrm>
          <a:prstGeom prst="ellipse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161788" y="2240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4480560" y="2560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판매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연결</a:t>
            </a:r>
            <a:endParaRPr lang="en-US" sz="95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3154680"/>
            <a:ext cx="457200" cy="45720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4526280" y="37490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찾고 구분한 상품을 실제 판매 중인 상품과 연결합니다.</a:t>
            </a:r>
            <a:endParaRPr lang="en-US" sz="750" dirty="0"/>
          </a:p>
        </p:txBody>
      </p:sp>
      <p:sp>
        <p:nvSpPr>
          <p:cNvPr id="30" name="Text 25"/>
          <p:cNvSpPr txBox="1"/>
          <p:nvPr/>
        </p:nvSpPr>
        <p:spPr>
          <a:xfrm>
            <a:off x="6172200" y="320040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309360" y="2103120"/>
            <a:ext cx="1783080" cy="25146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082028" y="2240280"/>
            <a:ext cx="237744" cy="237744"/>
          </a:xfrm>
          <a:prstGeom prst="ellipse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082028" y="2240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800" dirty="0"/>
          </a:p>
        </p:txBody>
      </p:sp>
      <p:sp>
        <p:nvSpPr>
          <p:cNvPr id="34" name="Text 29"/>
          <p:cNvSpPr txBox="1"/>
          <p:nvPr/>
        </p:nvSpPr>
        <p:spPr>
          <a:xfrm>
            <a:off x="6400800" y="2560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상품이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눌리고 팔렸는지 기록</a:t>
            </a:r>
            <a:endParaRPr lang="en-US" sz="95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3154680"/>
            <a:ext cx="457200" cy="457200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6446520" y="37490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누가, 어떤 상품을 눌렀고 최종 구매까지 연결됐는지 데이터를 기록합니다.</a:t>
            </a:r>
            <a:endParaRPr lang="en-US" sz="750" dirty="0"/>
          </a:p>
        </p:txBody>
      </p:sp>
      <p:sp>
        <p:nvSpPr>
          <p:cNvPr id="37" name="Shape 31"/>
          <p:cNvSpPr/>
          <p:nvPr/>
        </p:nvSpPr>
        <p:spPr>
          <a:xfrm>
            <a:off x="548640" y="4846320"/>
            <a:ext cx="7543800" cy="868680"/>
          </a:xfrm>
          <a:prstGeom prst="roundRect">
            <a:avLst>
              <a:gd name="adj" fmla="val 10526"/>
            </a:avLst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731520" y="5074920"/>
            <a:ext cx="384048" cy="384048"/>
          </a:xfrm>
          <a:prstGeom prst="ellipse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" y="5170932"/>
            <a:ext cx="192024" cy="192024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280160" y="4983480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 쌓아가는 것은 모델이 아니라 </a:t>
            </a:r>
            <a:pPr indent="0" marL="0">
              <a:buNone/>
            </a:pPr>
            <a:r>
              <a:rPr lang="en-US" sz="10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‘구매와 연결된 데이터’</a:t>
            </a:r>
            <a:pPr indent="0" marL="0">
              <a:buNone/>
            </a:pPr>
            <a:r>
              <a:rPr lang="en-US" sz="10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입니다.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1280160" y="528523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데이터가 서비스의 정교함과 개인화, 추천의 정확도를 결정합니다.</a:t>
            </a:r>
            <a:endParaRPr lang="en-US" sz="850" dirty="0"/>
          </a:p>
        </p:txBody>
      </p:sp>
      <p:sp>
        <p:nvSpPr>
          <p:cNvPr id="42" name="Text 35"/>
          <p:cNvSpPr txBox="1"/>
          <p:nvPr/>
        </p:nvSpPr>
        <p:spPr>
          <a:xfrm>
            <a:off x="548640" y="5943600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본 벤치마크 수치는 당사 자체 테스트 기준 측정값이며, 외부 검증 기준과 다를 수 있습니다.</a:t>
            </a:r>
            <a:endParaRPr lang="en-US" sz="650" dirty="0"/>
          </a:p>
        </p:txBody>
      </p:sp>
      <p:sp>
        <p:nvSpPr>
          <p:cNvPr id="43" name="Shape 36"/>
          <p:cNvSpPr/>
          <p:nvPr/>
        </p:nvSpPr>
        <p:spPr>
          <a:xfrm>
            <a:off x="8366760" y="2103120"/>
            <a:ext cx="3273552" cy="3611880"/>
          </a:xfrm>
          <a:prstGeom prst="roundRect">
            <a:avLst>
              <a:gd name="adj" fmla="val 3352"/>
            </a:avLst>
          </a:prstGeom>
          <a:solidFill>
            <a:srgbClr val="15151A"/>
          </a:solidFill>
          <a:ln w="12700">
            <a:solidFill>
              <a:srgbClr val="15151A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8641080" y="2331720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인식률</a:t>
            </a:r>
            <a:endParaRPr lang="en-US" sz="750" dirty="0"/>
          </a:p>
        </p:txBody>
      </p:sp>
      <p:sp>
        <p:nvSpPr>
          <p:cNvPr id="45" name="Text 38"/>
          <p:cNvSpPr txBox="1"/>
          <p:nvPr/>
        </p:nvSpPr>
        <p:spPr>
          <a:xfrm>
            <a:off x="8641080" y="256032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86%</a:t>
            </a:r>
            <a:endParaRPr lang="en-US" sz="2400" dirty="0"/>
          </a:p>
        </p:txBody>
      </p:sp>
      <p:sp>
        <p:nvSpPr>
          <p:cNvPr id="46" name="Text 39"/>
          <p:cNvSpPr txBox="1"/>
          <p:nvPr/>
        </p:nvSpPr>
        <p:spPr>
          <a:xfrm>
            <a:off x="8641080" y="3044952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22개 중 19개 인식</a:t>
            </a:r>
            <a:endParaRPr lang="en-US" sz="750" dirty="0"/>
          </a:p>
        </p:txBody>
      </p:sp>
      <p:sp>
        <p:nvSpPr>
          <p:cNvPr id="47" name="Shape 40"/>
          <p:cNvSpPr/>
          <p:nvPr/>
        </p:nvSpPr>
        <p:spPr>
          <a:xfrm>
            <a:off x="8641080" y="3319272"/>
            <a:ext cx="2724912" cy="0"/>
          </a:xfrm>
          <a:prstGeom prst="line">
            <a:avLst/>
          </a:prstGeom>
          <a:noFill/>
          <a:ln w="9525">
            <a:solidFill>
              <a:srgbClr val="34343C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8641080" y="3474720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영역 구분 성공</a:t>
            </a:r>
            <a:endParaRPr lang="en-US" sz="750" dirty="0"/>
          </a:p>
        </p:txBody>
      </p:sp>
      <p:sp>
        <p:nvSpPr>
          <p:cNvPr id="49" name="Text 42"/>
          <p:cNvSpPr txBox="1"/>
          <p:nvPr/>
        </p:nvSpPr>
        <p:spPr>
          <a:xfrm>
            <a:off x="8641080" y="370332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96%</a:t>
            </a:r>
            <a:endParaRPr lang="en-US" sz="2400" dirty="0"/>
          </a:p>
        </p:txBody>
      </p:sp>
      <p:sp>
        <p:nvSpPr>
          <p:cNvPr id="50" name="Text 43"/>
          <p:cNvSpPr txBox="1"/>
          <p:nvPr/>
        </p:nvSpPr>
        <p:spPr>
          <a:xfrm>
            <a:off x="8641080" y="4187952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정확한 영역 분할 성공</a:t>
            </a:r>
            <a:endParaRPr lang="en-US" sz="750" dirty="0"/>
          </a:p>
        </p:txBody>
      </p:sp>
      <p:sp>
        <p:nvSpPr>
          <p:cNvPr id="51" name="Shape 44"/>
          <p:cNvSpPr/>
          <p:nvPr/>
        </p:nvSpPr>
        <p:spPr>
          <a:xfrm>
            <a:off x="8641080" y="4462272"/>
            <a:ext cx="2724912" cy="0"/>
          </a:xfrm>
          <a:prstGeom prst="line">
            <a:avLst/>
          </a:prstGeom>
          <a:noFill/>
          <a:ln w="9525">
            <a:solidFill>
              <a:srgbClr val="34343C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8641080" y="4617720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안전장치 3단계</a:t>
            </a:r>
            <a:endParaRPr lang="en-US" sz="750" dirty="0"/>
          </a:p>
        </p:txBody>
      </p:sp>
      <p:sp>
        <p:nvSpPr>
          <p:cNvPr id="53" name="Text 46"/>
          <p:cNvSpPr txBox="1"/>
          <p:nvPr/>
        </p:nvSpPr>
        <p:spPr>
          <a:xfrm>
            <a:off x="8641080" y="484632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단계</a:t>
            </a:r>
            <a:endParaRPr lang="en-US" sz="2400" dirty="0"/>
          </a:p>
        </p:txBody>
      </p:sp>
      <p:sp>
        <p:nvSpPr>
          <p:cNvPr id="54" name="Text 47"/>
          <p:cNvSpPr txBox="1"/>
          <p:nvPr/>
        </p:nvSpPr>
        <p:spPr>
          <a:xfrm>
            <a:off x="8641080" y="5330952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/ 기기 / 네트워크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25912" y="292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9525">
            <a:solidFill>
              <a:srgbClr val="3434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INVESTOR RELATIONS  ·  AUG 2026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10268712" y="6473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13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6928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지금은 가볍게 시작하고,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거래가 생기면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중심으로 확장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합니다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91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처음에는 핵심 기능만 빠르게 운영하고, 실제 거래가 쌓이면 데이터 기반 기능을 확장합니다.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1031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지금의 MVP 흐름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48640" y="2359152"/>
            <a:ext cx="11091672" cy="0"/>
          </a:xfrm>
          <a:prstGeom prst="line">
            <a:avLst/>
          </a:prstGeom>
          <a:noFill/>
          <a:ln w="9525">
            <a:solidFill>
              <a:srgbClr val="3434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87168"/>
            <a:ext cx="2057400" cy="1298448"/>
          </a:xfrm>
          <a:prstGeom prst="roundRect">
            <a:avLst>
              <a:gd name="adj" fmla="val 7042"/>
            </a:avLst>
          </a:prstGeom>
          <a:solidFill>
            <a:srgbClr val="1E1E24"/>
          </a:solidFill>
          <a:ln w="9525">
            <a:solidFill>
              <a:srgbClr val="34343C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265176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40080" y="30815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화면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3101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상품을 보고</a:t>
            </a:r>
            <a:endParaRPr lang="en-US" sz="700" dirty="0"/>
          </a:p>
        </p:txBody>
      </p:sp>
      <p:sp>
        <p:nvSpPr>
          <p:cNvPr id="16" name="Text 13"/>
          <p:cNvSpPr txBox="1"/>
          <p:nvPr/>
        </p:nvSpPr>
        <p:spPr>
          <a:xfrm>
            <a:off x="2592324" y="29900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807208" y="2487168"/>
            <a:ext cx="2057400" cy="1298448"/>
          </a:xfrm>
          <a:prstGeom prst="roundRect">
            <a:avLst>
              <a:gd name="adj" fmla="val 7042"/>
            </a:avLst>
          </a:prstGeom>
          <a:solidFill>
            <a:srgbClr val="1E1E24"/>
          </a:solidFill>
          <a:ln w="9525">
            <a:solidFill>
              <a:srgbClr val="34343C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028" y="265176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898648" y="30815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인식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2944368" y="33101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사진으로 상품을 인식하고</a:t>
            </a:r>
            <a:endParaRPr lang="en-US" sz="700" dirty="0"/>
          </a:p>
        </p:txBody>
      </p:sp>
      <p:sp>
        <p:nvSpPr>
          <p:cNvPr id="21" name="Text 17"/>
          <p:cNvSpPr txBox="1"/>
          <p:nvPr/>
        </p:nvSpPr>
        <p:spPr>
          <a:xfrm>
            <a:off x="4850892" y="29900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065776" y="2487168"/>
            <a:ext cx="2057400" cy="1298448"/>
          </a:xfrm>
          <a:prstGeom prst="roundRect">
            <a:avLst>
              <a:gd name="adj" fmla="val 7042"/>
            </a:avLst>
          </a:prstGeom>
          <a:solidFill>
            <a:srgbClr val="1E1E24"/>
          </a:solidFill>
          <a:ln w="9525">
            <a:solidFill>
              <a:srgbClr val="34343C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96" y="265176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157216" y="30815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영역 구분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5202936" y="33101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상품이 있는 영역을 구분하고</a:t>
            </a:r>
            <a:endParaRPr lang="en-US" sz="700" dirty="0"/>
          </a:p>
        </p:txBody>
      </p:sp>
      <p:sp>
        <p:nvSpPr>
          <p:cNvPr id="26" name="Text 21"/>
          <p:cNvSpPr txBox="1"/>
          <p:nvPr/>
        </p:nvSpPr>
        <p:spPr>
          <a:xfrm>
            <a:off x="7109460" y="29900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324344" y="2487168"/>
            <a:ext cx="2057400" cy="1298448"/>
          </a:xfrm>
          <a:prstGeom prst="roundRect">
            <a:avLst>
              <a:gd name="adj" fmla="val 7042"/>
            </a:avLst>
          </a:prstGeom>
          <a:solidFill>
            <a:srgbClr val="1E1E24"/>
          </a:solidFill>
          <a:ln w="9525">
            <a:solidFill>
              <a:srgbClr val="34343C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164" y="265176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415784" y="30815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매칭</a:t>
            </a:r>
            <a:endParaRPr lang="en-US" sz="950" dirty="0"/>
          </a:p>
        </p:txBody>
      </p:sp>
      <p:sp>
        <p:nvSpPr>
          <p:cNvPr id="30" name="Text 24"/>
          <p:cNvSpPr txBox="1"/>
          <p:nvPr/>
        </p:nvSpPr>
        <p:spPr>
          <a:xfrm>
            <a:off x="7461504" y="33101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카탈로그와 비교해 가장 잘 맞는 상품을 찾고</a:t>
            </a:r>
            <a:endParaRPr lang="en-US" sz="700" dirty="0"/>
          </a:p>
        </p:txBody>
      </p:sp>
      <p:sp>
        <p:nvSpPr>
          <p:cNvPr id="31" name="Text 25"/>
          <p:cNvSpPr txBox="1"/>
          <p:nvPr/>
        </p:nvSpPr>
        <p:spPr>
          <a:xfrm>
            <a:off x="9368028" y="29900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9582912" y="2487168"/>
            <a:ext cx="2057400" cy="1298448"/>
          </a:xfrm>
          <a:prstGeom prst="roundRect">
            <a:avLst>
              <a:gd name="adj" fmla="val 7042"/>
            </a:avLst>
          </a:prstGeom>
          <a:solidFill>
            <a:srgbClr val="1E1E24"/>
          </a:solidFill>
          <a:ln w="9525">
            <a:solidFill>
              <a:srgbClr val="34343C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8732" y="2651760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674352" y="30815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 연결</a:t>
            </a:r>
            <a:endParaRPr lang="en-US" sz="950" dirty="0"/>
          </a:p>
        </p:txBody>
      </p:sp>
      <p:sp>
        <p:nvSpPr>
          <p:cNvPr id="35" name="Text 28"/>
          <p:cNvSpPr txBox="1"/>
          <p:nvPr/>
        </p:nvSpPr>
        <p:spPr>
          <a:xfrm>
            <a:off x="9720072" y="33101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상품을 구매할 수 있도록 연결합니다</a:t>
            </a:r>
            <a:endParaRPr lang="en-US" sz="700" dirty="0"/>
          </a:p>
        </p:txBody>
      </p:sp>
      <p:sp>
        <p:nvSpPr>
          <p:cNvPr id="36" name="Text 29"/>
          <p:cNvSpPr txBox="1"/>
          <p:nvPr/>
        </p:nvSpPr>
        <p:spPr>
          <a:xfrm>
            <a:off x="548640" y="39776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앞으로의 확장 구조 (거래가 쌓이면)</a:t>
            </a:r>
            <a:endParaRPr lang="en-US" sz="750" dirty="0"/>
          </a:p>
        </p:txBody>
      </p:sp>
      <p:sp>
        <p:nvSpPr>
          <p:cNvPr id="37" name="Shape 30"/>
          <p:cNvSpPr/>
          <p:nvPr/>
        </p:nvSpPr>
        <p:spPr>
          <a:xfrm>
            <a:off x="548640" y="4233672"/>
            <a:ext cx="11091672" cy="0"/>
          </a:xfrm>
          <a:prstGeom prst="line">
            <a:avLst/>
          </a:prstGeom>
          <a:noFill/>
          <a:ln w="9525">
            <a:solidFill>
              <a:srgbClr val="34343C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548640" y="4361688"/>
            <a:ext cx="2057400" cy="1298448"/>
          </a:xfrm>
          <a:prstGeom prst="roundRect">
            <a:avLst>
              <a:gd name="adj" fmla="val 7042"/>
            </a:avLst>
          </a:prstGeom>
          <a:solidFill>
            <a:srgbClr val="1E1E24"/>
          </a:solidFill>
          <a:ln w="9525">
            <a:solidFill>
              <a:srgbClr val="34343C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4460" y="4526280"/>
            <a:ext cx="365760" cy="36576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640080" y="49560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 수집</a:t>
            </a:r>
            <a:endParaRPr lang="en-US" sz="950" dirty="0"/>
          </a:p>
        </p:txBody>
      </p:sp>
      <p:sp>
        <p:nvSpPr>
          <p:cNvPr id="41" name="Text 33"/>
          <p:cNvSpPr txBox="1"/>
          <p:nvPr/>
        </p:nvSpPr>
        <p:spPr>
          <a:xfrm>
            <a:off x="685800" y="51846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사용자의 조회, 클릭, 장바구니, 구매 등 모든 행동을 기록합니다.</a:t>
            </a:r>
            <a:endParaRPr lang="en-US" sz="700" dirty="0"/>
          </a:p>
        </p:txBody>
      </p:sp>
      <p:sp>
        <p:nvSpPr>
          <p:cNvPr id="42" name="Text 34"/>
          <p:cNvSpPr txBox="1"/>
          <p:nvPr/>
        </p:nvSpPr>
        <p:spPr>
          <a:xfrm>
            <a:off x="2592324" y="48646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2807208" y="4361688"/>
            <a:ext cx="2057400" cy="1298448"/>
          </a:xfrm>
          <a:prstGeom prst="roundRect">
            <a:avLst>
              <a:gd name="adj" fmla="val 7042"/>
            </a:avLst>
          </a:prstGeom>
          <a:solidFill>
            <a:srgbClr val="1E1E24"/>
          </a:solidFill>
          <a:ln w="9525">
            <a:solidFill>
              <a:srgbClr val="34343C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3028" y="4526280"/>
            <a:ext cx="365760" cy="365760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2898648" y="49560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 기여도 분석</a:t>
            </a:r>
            <a:endParaRPr lang="en-US" sz="950" dirty="0"/>
          </a:p>
        </p:txBody>
      </p:sp>
      <p:sp>
        <p:nvSpPr>
          <p:cNvPr id="46" name="Text 37"/>
          <p:cNvSpPr txBox="1"/>
          <p:nvPr/>
        </p:nvSpPr>
        <p:spPr>
          <a:xfrm>
            <a:off x="2944368" y="51846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접점이 구매에 얼마나 영향을 미쳤는지 분석합니다.</a:t>
            </a:r>
            <a:endParaRPr lang="en-US" sz="700" dirty="0"/>
          </a:p>
        </p:txBody>
      </p:sp>
      <p:sp>
        <p:nvSpPr>
          <p:cNvPr id="47" name="Text 38"/>
          <p:cNvSpPr txBox="1"/>
          <p:nvPr/>
        </p:nvSpPr>
        <p:spPr>
          <a:xfrm>
            <a:off x="4850892" y="48646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5065776" y="4361688"/>
            <a:ext cx="2057400" cy="1298448"/>
          </a:xfrm>
          <a:prstGeom prst="roundRect">
            <a:avLst>
              <a:gd name="adj" fmla="val 7042"/>
            </a:avLst>
          </a:prstGeom>
          <a:solidFill>
            <a:srgbClr val="1E1E24"/>
          </a:solidFill>
          <a:ln w="9525">
            <a:solidFill>
              <a:srgbClr val="34343C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1596" y="4526280"/>
            <a:ext cx="365760" cy="365760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5157216" y="49560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시스템</a:t>
            </a:r>
            <a:endParaRPr lang="en-US" sz="950" dirty="0"/>
          </a:p>
        </p:txBody>
      </p:sp>
      <p:sp>
        <p:nvSpPr>
          <p:cNvPr id="51" name="Text 41"/>
          <p:cNvSpPr txBox="1"/>
          <p:nvPr/>
        </p:nvSpPr>
        <p:spPr>
          <a:xfrm>
            <a:off x="5202936" y="51846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결과를 바탕으로 파트너와 정산을 자동으로 처리합니다.</a:t>
            </a:r>
            <a:endParaRPr lang="en-US" sz="700" dirty="0"/>
          </a:p>
        </p:txBody>
      </p:sp>
      <p:sp>
        <p:nvSpPr>
          <p:cNvPr id="52" name="Text 42"/>
          <p:cNvSpPr txBox="1"/>
          <p:nvPr/>
        </p:nvSpPr>
        <p:spPr>
          <a:xfrm>
            <a:off x="7109460" y="48646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53" name="Shape 43"/>
          <p:cNvSpPr/>
          <p:nvPr/>
        </p:nvSpPr>
        <p:spPr>
          <a:xfrm>
            <a:off x="7324344" y="4361688"/>
            <a:ext cx="2057400" cy="1298448"/>
          </a:xfrm>
          <a:prstGeom prst="roundRect">
            <a:avLst>
              <a:gd name="adj" fmla="val 7042"/>
            </a:avLst>
          </a:prstGeom>
          <a:solidFill>
            <a:srgbClr val="1E1E24"/>
          </a:solidFill>
          <a:ln w="9525">
            <a:solidFill>
              <a:srgbClr val="34343C"/>
            </a:solidFill>
            <a:prstDash val="solid"/>
          </a:ln>
        </p:spPr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0164" y="4526280"/>
            <a:ext cx="365760" cy="365760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7415784" y="49560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카탈로그</a:t>
            </a:r>
            <a:endParaRPr lang="en-US" sz="950" dirty="0"/>
          </a:p>
        </p:txBody>
      </p:sp>
      <p:sp>
        <p:nvSpPr>
          <p:cNvPr id="56" name="Text 45"/>
          <p:cNvSpPr txBox="1"/>
          <p:nvPr/>
        </p:nvSpPr>
        <p:spPr>
          <a:xfrm>
            <a:off x="7461504" y="51846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SKU, 가격, 재고, 지역 등 상품 정보를 체계적으로 관리합니다.</a:t>
            </a:r>
            <a:endParaRPr lang="en-US" sz="700" dirty="0"/>
          </a:p>
        </p:txBody>
      </p:sp>
      <p:sp>
        <p:nvSpPr>
          <p:cNvPr id="57" name="Text 46"/>
          <p:cNvSpPr txBox="1"/>
          <p:nvPr/>
        </p:nvSpPr>
        <p:spPr>
          <a:xfrm>
            <a:off x="9368028" y="48646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9582912" y="4361688"/>
            <a:ext cx="2057400" cy="1298448"/>
          </a:xfrm>
          <a:prstGeom prst="roundRect">
            <a:avLst>
              <a:gd name="adj" fmla="val 7042"/>
            </a:avLst>
          </a:prstGeom>
          <a:solidFill>
            <a:srgbClr val="1E1E24"/>
          </a:solidFill>
          <a:ln w="9525">
            <a:solidFill>
              <a:srgbClr val="34343C"/>
            </a:solidFill>
            <a:prstDash val="solid"/>
          </a:ln>
        </p:spPr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28732" y="4526280"/>
            <a:ext cx="365760" cy="365760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9674352" y="49560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데이터</a:t>
            </a:r>
            <a:endParaRPr lang="en-US" sz="950" dirty="0"/>
          </a:p>
        </p:txBody>
      </p:sp>
      <p:sp>
        <p:nvSpPr>
          <p:cNvPr id="61" name="Text 49"/>
          <p:cNvSpPr txBox="1"/>
          <p:nvPr/>
        </p:nvSpPr>
        <p:spPr>
          <a:xfrm>
            <a:off x="9720072" y="51846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브랜드, 매장, 캠페인 등 파트너 데이터를 통합 관리합니다.</a:t>
            </a:r>
            <a:endParaRPr lang="en-US" sz="700" dirty="0"/>
          </a:p>
        </p:txBody>
      </p:sp>
      <p:sp>
        <p:nvSpPr>
          <p:cNvPr id="62" name="Shape 50"/>
          <p:cNvSpPr/>
          <p:nvPr/>
        </p:nvSpPr>
        <p:spPr>
          <a:xfrm>
            <a:off x="548640" y="5806440"/>
            <a:ext cx="11091672" cy="438912"/>
          </a:xfrm>
          <a:prstGeom prst="roundRect">
            <a:avLst>
              <a:gd name="adj" fmla="val 20833"/>
            </a:avLst>
          </a:prstGeom>
          <a:solidFill>
            <a:srgbClr val="1E1E24"/>
          </a:solidFill>
          <a:ln w="9525">
            <a:solidFill>
              <a:srgbClr val="34343C"/>
            </a:solidFill>
            <a:prstDash val="solid"/>
          </a:ln>
        </p:spPr>
      </p:sp>
      <p:pic>
        <p:nvPicPr>
          <p:cNvPr id="6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3232" y="5943600"/>
            <a:ext cx="164592" cy="164592"/>
          </a:xfrm>
          <a:prstGeom prst="rect">
            <a:avLst/>
          </a:prstGeom>
        </p:spPr>
      </p:pic>
      <p:sp>
        <p:nvSpPr>
          <p:cNvPr id="64" name="Text 51"/>
          <p:cNvSpPr txBox="1"/>
          <p:nvPr/>
        </p:nvSpPr>
        <p:spPr>
          <a:xfrm>
            <a:off x="987552" y="5806440"/>
            <a:ext cx="10543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모델은 교체가 가능하지만, 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STS는 데이터 구조와 거래 신호를 보유하고 있습니다.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COMPETITION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25912" y="292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INVESTOR RELATIONS  ·  AUG 2026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10268712" y="6473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13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6928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경쟁사는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링크를 관리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합니다.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STS는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속 상품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바로 연결합니다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91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STS는 콘텐츠 속 상품을 자동 인식하고, 크리에이터가 확인하면 즉시 연결·판매되는 구조입니다. 플랫폼에 종속되지 않고 기존 SNS 콘텐츠 위에 얹힙니다.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1488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1488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단위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1488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연결 방식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2148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 수익화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9875520" y="214884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단위 구매 데이터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48640" y="2395728"/>
            <a:ext cx="11091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4871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Pinterest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24871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/ 아이디어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48716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카탈로그 기반 수동 태그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248716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간접 수익 (광고 중심)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9875520" y="2487168"/>
            <a:ext cx="1673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부분적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2916936"/>
            <a:ext cx="11091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29443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LTK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560320" y="29443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 샵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294436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 기반 수동 연결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294436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강함 (커미션)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9875520" y="2944368"/>
            <a:ext cx="1673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없음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8640" y="3374136"/>
            <a:ext cx="11091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401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TikTok Shop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2560320" y="34015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인앱 숏폼 · 라이브 커머스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754880" y="340156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셀러·크리에이터 수동 태그 (플랫폼 내부 상품만)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340156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강함 (커미션 · 라이브)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9875520" y="3401568"/>
            <a:ext cx="1673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내부 전용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" y="3831336"/>
            <a:ext cx="11091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38587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Google Lens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2560320" y="38587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 검색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754880" y="385876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인식 (검색 중심)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7498080" y="385876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없음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9875520" y="3858768"/>
            <a:ext cx="1673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전용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48640" y="4288536"/>
            <a:ext cx="11091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297680"/>
            <a:ext cx="11274552" cy="438912"/>
          </a:xfrm>
          <a:prstGeom prst="roundRect">
            <a:avLst>
              <a:gd name="adj" fmla="val 12500"/>
            </a:avLst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" y="43159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2651760" y="43159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속 상품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4846320" y="431596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인식 + 크리에이터 확인 (SNS 콘텐츠 위에 얹는 레이어)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7589520" y="431596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수익 배분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9966960" y="4315968"/>
            <a:ext cx="1673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자산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48640" y="493776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15151A"/>
          </a:solidFill>
          <a:ln w="12700">
            <a:solidFill>
              <a:srgbClr val="15151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22960" y="51389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 WEDGE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 flipH="1">
            <a:off x="868680" y="5413248"/>
            <a:ext cx="548640" cy="502920"/>
          </a:xfrm>
          <a:prstGeom prst="rtTriangle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011680" y="5074920"/>
            <a:ext cx="9354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TikTok Shop은 자기 플랫폼 안의 상품만, LTK는 링크만 다룹니다. STS는 새 플랫폼을 만들기보다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SNS 콘텐츠 위에 붙는 쇼핑 연결 레이어입니다. 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콘텐츠 이주 없이 빠르게 확산될 수 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GROWTH FLYWHEEL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25912" y="292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INVESTOR RELATIONS  ·  AUG 2026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10268712" y="6473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13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6928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연결이 쌓일수록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정확해지고,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많이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팔립니다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91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바퀴가 돌 때마다 데이터가 더 풍부해지고 연결이 더 정교해져, 전환·수익 선순환이 커집니다.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3788" y="2744888"/>
            <a:ext cx="311375" cy="110923"/>
          </a:xfrm>
          <a:prstGeom prst="line">
            <a:avLst/>
          </a:prstGeom>
          <a:noFill/>
          <a:ln w="12700">
            <a:solidFill>
              <a:srgbClr val="FF2D7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89950" y="3456432"/>
            <a:ext cx="9144" cy="676656"/>
          </a:xfrm>
          <a:prstGeom prst="line">
            <a:avLst/>
          </a:prstGeom>
          <a:noFill/>
          <a:ln w="12700">
            <a:solidFill>
              <a:srgbClr val="FF2D7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>
            <a:off x="4203788" y="4733708"/>
            <a:ext cx="311375" cy="110923"/>
          </a:xfrm>
          <a:prstGeom prst="line">
            <a:avLst/>
          </a:prstGeom>
          <a:noFill/>
          <a:ln w="12700">
            <a:solidFill>
              <a:srgbClr val="FF2D7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 flipV="1">
            <a:off x="2342838" y="4733708"/>
            <a:ext cx="311375" cy="110923"/>
          </a:xfrm>
          <a:prstGeom prst="line">
            <a:avLst/>
          </a:prstGeom>
          <a:noFill/>
          <a:ln w="12700">
            <a:solidFill>
              <a:srgbClr val="FF2D7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 flipV="1">
            <a:off x="1568050" y="3456432"/>
            <a:ext cx="0" cy="676656"/>
          </a:xfrm>
          <a:prstGeom prst="line">
            <a:avLst/>
          </a:prstGeom>
          <a:noFill/>
          <a:ln w="12700">
            <a:solidFill>
              <a:srgbClr val="FF2D7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2342838" y="2744888"/>
            <a:ext cx="311375" cy="110923"/>
          </a:xfrm>
          <a:prstGeom prst="line">
            <a:avLst/>
          </a:prstGeom>
          <a:noFill/>
          <a:ln w="12700">
            <a:solidFill>
              <a:srgbClr val="FF2D7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651760" y="221742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24912" y="2290572"/>
            <a:ext cx="356616" cy="356616"/>
          </a:xfrm>
          <a:prstGeom prst="ellipse">
            <a:avLst/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4066" y="2379726"/>
            <a:ext cx="178308" cy="17830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3154680" y="229057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3154680" y="247345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많은 상품 연결 콘텐츠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4512710" y="288036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85862" y="2953512"/>
            <a:ext cx="356616" cy="356616"/>
          </a:xfrm>
          <a:prstGeom prst="ellipse">
            <a:avLst/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016" y="3042666"/>
            <a:ext cx="178308" cy="17830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015630" y="295351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인식</a:t>
            </a:r>
            <a:endParaRPr lang="en-US" sz="850" dirty="0"/>
          </a:p>
        </p:txBody>
      </p:sp>
      <p:sp>
        <p:nvSpPr>
          <p:cNvPr id="25" name="Text 21"/>
          <p:cNvSpPr txBox="1"/>
          <p:nvPr/>
        </p:nvSpPr>
        <p:spPr>
          <a:xfrm>
            <a:off x="5015630" y="313639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많은 상품이 정확하게 인식</a:t>
            </a:r>
            <a:endParaRPr lang="en-US" sz="600" dirty="0"/>
          </a:p>
        </p:txBody>
      </p:sp>
      <p:sp>
        <p:nvSpPr>
          <p:cNvPr id="26" name="Shape 22"/>
          <p:cNvSpPr/>
          <p:nvPr/>
        </p:nvSpPr>
        <p:spPr>
          <a:xfrm>
            <a:off x="4512710" y="420624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585862" y="4279392"/>
            <a:ext cx="356616" cy="356616"/>
          </a:xfrm>
          <a:prstGeom prst="ellipse">
            <a:avLst/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016" y="4368546"/>
            <a:ext cx="178308" cy="17830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015630" y="427939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클릭 증가</a:t>
            </a:r>
            <a:endParaRPr lang="en-US" sz="850" dirty="0"/>
          </a:p>
        </p:txBody>
      </p:sp>
      <p:sp>
        <p:nvSpPr>
          <p:cNvPr id="30" name="Text 25"/>
          <p:cNvSpPr txBox="1"/>
          <p:nvPr/>
        </p:nvSpPr>
        <p:spPr>
          <a:xfrm>
            <a:off x="5015630" y="446227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관련성 높은 상품, 클릭 증가</a:t>
            </a:r>
            <a:endParaRPr lang="en-US" sz="600" dirty="0"/>
          </a:p>
        </p:txBody>
      </p:sp>
      <p:sp>
        <p:nvSpPr>
          <p:cNvPr id="31" name="Shape 26"/>
          <p:cNvSpPr/>
          <p:nvPr/>
        </p:nvSpPr>
        <p:spPr>
          <a:xfrm>
            <a:off x="2651760" y="486918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2724912" y="4942332"/>
            <a:ext cx="356616" cy="356616"/>
          </a:xfrm>
          <a:prstGeom prst="ellipse">
            <a:avLst/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066" y="5031486"/>
            <a:ext cx="178308" cy="178308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3154680" y="494233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증가</a:t>
            </a:r>
            <a:endParaRPr lang="en-US" sz="850" dirty="0"/>
          </a:p>
        </p:txBody>
      </p:sp>
      <p:sp>
        <p:nvSpPr>
          <p:cNvPr id="35" name="Text 29"/>
          <p:cNvSpPr txBox="1"/>
          <p:nvPr/>
        </p:nvSpPr>
        <p:spPr>
          <a:xfrm>
            <a:off x="3154680" y="512521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 전환 및 매출 확대</a:t>
            </a:r>
            <a:endParaRPr lang="en-US" sz="600" dirty="0"/>
          </a:p>
        </p:txBody>
      </p:sp>
      <p:sp>
        <p:nvSpPr>
          <p:cNvPr id="36" name="Shape 30"/>
          <p:cNvSpPr/>
          <p:nvPr/>
        </p:nvSpPr>
        <p:spPr>
          <a:xfrm>
            <a:off x="790810" y="420624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863962" y="4279392"/>
            <a:ext cx="356616" cy="356616"/>
          </a:xfrm>
          <a:prstGeom prst="ellipse">
            <a:avLst/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116" y="4368546"/>
            <a:ext cx="178308" cy="178308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1293730" y="427939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참여 확대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293730" y="446227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많은 브랜드가 참여</a:t>
            </a:r>
            <a:endParaRPr lang="en-US" sz="600" dirty="0"/>
          </a:p>
        </p:txBody>
      </p:sp>
      <p:sp>
        <p:nvSpPr>
          <p:cNvPr id="41" name="Shape 34"/>
          <p:cNvSpPr/>
          <p:nvPr/>
        </p:nvSpPr>
        <p:spPr>
          <a:xfrm>
            <a:off x="790810" y="288036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863962" y="2953512"/>
            <a:ext cx="356616" cy="356616"/>
          </a:xfrm>
          <a:prstGeom prst="ellipse">
            <a:avLst/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116" y="3042666"/>
            <a:ext cx="178308" cy="178308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1293730" y="295351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매칭 품질 향상</a:t>
            </a:r>
            <a:endParaRPr lang="en-US" sz="850" dirty="0"/>
          </a:p>
        </p:txBody>
      </p:sp>
      <p:sp>
        <p:nvSpPr>
          <p:cNvPr id="45" name="Text 37"/>
          <p:cNvSpPr txBox="1"/>
          <p:nvPr/>
        </p:nvSpPr>
        <p:spPr>
          <a:xfrm>
            <a:off x="1293730" y="313639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정확한 매칭, 전환율 상승</a:t>
            </a:r>
            <a:endParaRPr lang="en-US" sz="600" dirty="0"/>
          </a:p>
        </p:txBody>
      </p:sp>
      <p:sp>
        <p:nvSpPr>
          <p:cNvPr id="46" name="Text 38"/>
          <p:cNvSpPr txBox="1"/>
          <p:nvPr/>
        </p:nvSpPr>
        <p:spPr>
          <a:xfrm>
            <a:off x="2606040" y="341071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연결이
</a:t>
            </a:r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 엔진이 되어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선순환을 만듭니다</a:t>
            </a:r>
            <a:endParaRPr lang="en-US" sz="950" dirty="0"/>
          </a:p>
        </p:txBody>
      </p:sp>
      <p:sp>
        <p:nvSpPr>
          <p:cNvPr id="47" name="Shape 39"/>
          <p:cNvSpPr/>
          <p:nvPr/>
        </p:nvSpPr>
        <p:spPr>
          <a:xfrm>
            <a:off x="6766560" y="2103120"/>
            <a:ext cx="4873752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8929116" y="2331720"/>
            <a:ext cx="548640" cy="548640"/>
          </a:xfrm>
          <a:prstGeom prst="ellipse">
            <a:avLst/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6276" y="2468880"/>
            <a:ext cx="274320" cy="274320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6949440" y="3017520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장면 · 상품 · 구매 데이터</a:t>
            </a:r>
            <a:endParaRPr lang="en-US" sz="1400" dirty="0"/>
          </a:p>
        </p:txBody>
      </p:sp>
      <p:sp>
        <p:nvSpPr>
          <p:cNvPr id="51" name="Text 42"/>
          <p:cNvSpPr txBox="1"/>
          <p:nvPr/>
        </p:nvSpPr>
        <p:spPr>
          <a:xfrm>
            <a:off x="6949440" y="3310128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축적이 곧 경쟁력</a:t>
            </a:r>
            <a:endParaRPr lang="en-US" sz="1200" dirty="0"/>
          </a:p>
        </p:txBody>
      </p:sp>
      <p:sp>
        <p:nvSpPr>
          <p:cNvPr id="52" name="Text 43"/>
          <p:cNvSpPr txBox="1"/>
          <p:nvPr/>
        </p:nvSpPr>
        <p:spPr>
          <a:xfrm>
            <a:off x="7223760" y="3703320"/>
            <a:ext cx="3959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탭이 ‘어떤 장면의 어떤 상품이 어떤 반응을 만들었는가’를 데이터로 남깁니다.</a:t>
            </a:r>
            <a:endParaRPr lang="en-US" sz="900" dirty="0"/>
          </a:p>
        </p:txBody>
      </p:sp>
      <p:sp>
        <p:nvSpPr>
          <p:cNvPr id="53" name="Shape 44"/>
          <p:cNvSpPr/>
          <p:nvPr/>
        </p:nvSpPr>
        <p:spPr>
          <a:xfrm>
            <a:off x="7315200" y="4297680"/>
            <a:ext cx="37764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54" name="Text 45"/>
          <p:cNvSpPr txBox="1"/>
          <p:nvPr/>
        </p:nvSpPr>
        <p:spPr>
          <a:xfrm>
            <a:off x="7223760" y="4434840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많은 연결이 모일수록 예측은 정확해지고, 추천은 정교해지며, 성과는 계속 커집니다.</a:t>
            </a:r>
            <a:endParaRPr lang="en-US" sz="900" dirty="0"/>
          </a:p>
        </p:txBody>
      </p:sp>
      <p:sp>
        <p:nvSpPr>
          <p:cNvPr id="55" name="Text 46"/>
          <p:cNvSpPr txBox="1"/>
          <p:nvPr/>
        </p:nvSpPr>
        <p:spPr>
          <a:xfrm>
            <a:off x="548640" y="54406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선순환이 만드는 compounding 효과</a:t>
            </a:r>
            <a:endParaRPr lang="en-US" sz="750" dirty="0"/>
          </a:p>
        </p:txBody>
      </p:sp>
      <p:sp>
        <p:nvSpPr>
          <p:cNvPr id="56" name="Shape 47"/>
          <p:cNvSpPr/>
          <p:nvPr/>
        </p:nvSpPr>
        <p:spPr>
          <a:xfrm>
            <a:off x="548640" y="568756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779008"/>
            <a:ext cx="182880" cy="182880"/>
          </a:xfrm>
          <a:prstGeom prst="rect">
            <a:avLst/>
          </a:prstGeom>
        </p:spPr>
      </p:pic>
      <p:sp>
        <p:nvSpPr>
          <p:cNvPr id="58" name="Text 48"/>
          <p:cNvSpPr txBox="1"/>
          <p:nvPr/>
        </p:nvSpPr>
        <p:spPr>
          <a:xfrm>
            <a:off x="1005840" y="5687568"/>
            <a:ext cx="19499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전환율 상승</a:t>
            </a:r>
            <a:endParaRPr lang="en-US" sz="850" dirty="0"/>
          </a:p>
        </p:txBody>
      </p:sp>
      <p:sp>
        <p:nvSpPr>
          <p:cNvPr id="59" name="Text 49"/>
          <p:cNvSpPr txBox="1"/>
          <p:nvPr/>
        </p:nvSpPr>
        <p:spPr>
          <a:xfrm>
            <a:off x="1005840" y="5879592"/>
            <a:ext cx="19499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잘 팔림</a:t>
            </a:r>
            <a:endParaRPr lang="en-US" sz="750" dirty="0"/>
          </a:p>
        </p:txBody>
      </p:sp>
      <p:sp>
        <p:nvSpPr>
          <p:cNvPr id="60" name="Text 50"/>
          <p:cNvSpPr txBox="1"/>
          <p:nvPr/>
        </p:nvSpPr>
        <p:spPr>
          <a:xfrm>
            <a:off x="2955798" y="5760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61" name="Shape 51"/>
          <p:cNvSpPr/>
          <p:nvPr/>
        </p:nvSpPr>
        <p:spPr>
          <a:xfrm>
            <a:off x="3321558" y="568756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2998" y="5779008"/>
            <a:ext cx="182880" cy="182880"/>
          </a:xfrm>
          <a:prstGeom prst="rect">
            <a:avLst/>
          </a:prstGeom>
        </p:spPr>
      </p:pic>
      <p:sp>
        <p:nvSpPr>
          <p:cNvPr id="63" name="Text 52"/>
          <p:cNvSpPr txBox="1"/>
          <p:nvPr/>
        </p:nvSpPr>
        <p:spPr>
          <a:xfrm>
            <a:off x="3778758" y="5687568"/>
            <a:ext cx="19499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커미션 협상력 강화</a:t>
            </a:r>
            <a:endParaRPr lang="en-US" sz="850" dirty="0"/>
          </a:p>
        </p:txBody>
      </p:sp>
      <p:sp>
        <p:nvSpPr>
          <p:cNvPr id="64" name="Text 53"/>
          <p:cNvSpPr txBox="1"/>
          <p:nvPr/>
        </p:nvSpPr>
        <p:spPr>
          <a:xfrm>
            <a:off x="3778758" y="5879592"/>
            <a:ext cx="19499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좋은 조건</a:t>
            </a:r>
            <a:endParaRPr lang="en-US" sz="750" dirty="0"/>
          </a:p>
        </p:txBody>
      </p:sp>
      <p:sp>
        <p:nvSpPr>
          <p:cNvPr id="65" name="Text 54"/>
          <p:cNvSpPr txBox="1"/>
          <p:nvPr/>
        </p:nvSpPr>
        <p:spPr>
          <a:xfrm>
            <a:off x="5728716" y="5760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66" name="Shape 55"/>
          <p:cNvSpPr/>
          <p:nvPr/>
        </p:nvSpPr>
        <p:spPr>
          <a:xfrm>
            <a:off x="6094476" y="568756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5916" y="5779008"/>
            <a:ext cx="182880" cy="182880"/>
          </a:xfrm>
          <a:prstGeom prst="rect">
            <a:avLst/>
          </a:prstGeom>
        </p:spPr>
      </p:pic>
      <p:sp>
        <p:nvSpPr>
          <p:cNvPr id="68" name="Text 56"/>
          <p:cNvSpPr txBox="1"/>
          <p:nvPr/>
        </p:nvSpPr>
        <p:spPr>
          <a:xfrm>
            <a:off x="6551676" y="5687568"/>
            <a:ext cx="19499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 수익 증가</a:t>
            </a:r>
            <a:endParaRPr lang="en-US" sz="850" dirty="0"/>
          </a:p>
        </p:txBody>
      </p:sp>
      <p:sp>
        <p:nvSpPr>
          <p:cNvPr id="69" name="Text 57"/>
          <p:cNvSpPr txBox="1"/>
          <p:nvPr/>
        </p:nvSpPr>
        <p:spPr>
          <a:xfrm>
            <a:off x="6551676" y="5879592"/>
            <a:ext cx="19499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지속적으로 콘텐츠 발행</a:t>
            </a:r>
            <a:endParaRPr lang="en-US" sz="750" dirty="0"/>
          </a:p>
        </p:txBody>
      </p:sp>
      <p:sp>
        <p:nvSpPr>
          <p:cNvPr id="70" name="Text 58"/>
          <p:cNvSpPr txBox="1"/>
          <p:nvPr/>
        </p:nvSpPr>
        <p:spPr>
          <a:xfrm>
            <a:off x="8501634" y="5760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71" name="Shape 59"/>
          <p:cNvSpPr/>
          <p:nvPr/>
        </p:nvSpPr>
        <p:spPr>
          <a:xfrm>
            <a:off x="8867394" y="568756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8834" y="5779008"/>
            <a:ext cx="182880" cy="182880"/>
          </a:xfrm>
          <a:prstGeom prst="rect">
            <a:avLst/>
          </a:prstGeom>
        </p:spPr>
      </p:pic>
      <p:sp>
        <p:nvSpPr>
          <p:cNvPr id="73" name="Text 60"/>
          <p:cNvSpPr txBox="1"/>
          <p:nvPr/>
        </p:nvSpPr>
        <p:spPr>
          <a:xfrm>
            <a:off x="9324594" y="5687568"/>
            <a:ext cx="19499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발행 증가</a:t>
            </a:r>
            <a:endParaRPr lang="en-US" sz="850" dirty="0"/>
          </a:p>
        </p:txBody>
      </p:sp>
      <p:sp>
        <p:nvSpPr>
          <p:cNvPr id="74" name="Text 61"/>
          <p:cNvSpPr txBox="1"/>
          <p:nvPr/>
        </p:nvSpPr>
        <p:spPr>
          <a:xfrm>
            <a:off x="9324594" y="5879592"/>
            <a:ext cx="19499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많은 데이터 축적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BUSINESS MODEL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25912" y="292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INVESTOR RELATIONS  ·  AUG 2026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10268712" y="6473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13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6928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수수료와 광고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메인 수익이고,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데이터와 도구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확장합니다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91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거래가 일어나는 순간 수수료가 생기고, 거래가 모이면 브랜드 광고가 붙습니다. 데이터·도구 사업은 그 위에서 확장하는 다음 단계입니다.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2585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221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수수료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258568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0" y="22585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</a:t>
            </a:r>
            <a:endParaRPr lang="en-US" sz="65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2402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 콘텐츠에서 상품이 팔리면 일정 비율의 수수료를 받습니다. 초기 제조사 제휴 상품에서 시작합니다.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902952" y="2231136"/>
            <a:ext cx="1737360" cy="228600"/>
          </a:xfrm>
          <a:prstGeom prst="roundRect">
            <a:avLst>
              <a:gd name="adj" fmla="val 50000"/>
            </a:avLst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902952" y="223113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Creator 70 / STS 30 가정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48640" y="2651760"/>
            <a:ext cx="11091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8803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28437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광고 상품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0400" y="28803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86207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브랜드가 크리에이터·상품을 더 잘 노출되도록 광고 상품을 구매합니다.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902952" y="2852928"/>
            <a:ext cx="1737360" cy="228600"/>
          </a:xfrm>
          <a:prstGeom prst="roundRect">
            <a:avLst>
              <a:gd name="adj" fmla="val 50000"/>
            </a:avLst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902952" y="28529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CPC / CPS + 광고 표시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48640" y="3273552"/>
            <a:ext cx="11091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5021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34655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 분석 도구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3502152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EEEEF1"/>
          </a:solidFill>
          <a:ln w="12700">
            <a:solidFill>
              <a:srgbClr val="EEEEF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00400" y="35021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</a:t>
            </a:r>
            <a:endParaRPr lang="en-US" sz="650" dirty="0"/>
          </a:p>
        </p:txBody>
      </p:sp>
      <p:sp>
        <p:nvSpPr>
          <p:cNvPr id="30" name="Text 28"/>
          <p:cNvSpPr txBox="1"/>
          <p:nvPr/>
        </p:nvSpPr>
        <p:spPr>
          <a:xfrm>
            <a:off x="3840480" y="348386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크리에이터가 성과를 분석하고 더 잘 성장할 수 있는 유료 도구를 제공합니다.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902952" y="3474720"/>
            <a:ext cx="173736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902952" y="3474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구독형 서비스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9902952" y="3474720"/>
            <a:ext cx="1737360" cy="228600"/>
          </a:xfrm>
          <a:prstGeom prst="roundRect">
            <a:avLst>
              <a:gd name="adj" fmla="val 50000"/>
            </a:avLst>
          </a:prstGeom>
          <a:ln w="9525">
            <a:solidFill>
              <a:srgbClr val="E4E4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3895344"/>
            <a:ext cx="11091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41239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960120" y="4087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성과 대시보드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0" y="4123944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EEEEF1"/>
          </a:solidFill>
          <a:ln w="12700">
            <a:solidFill>
              <a:srgbClr val="EEEEF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200400" y="41239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</a:t>
            </a:r>
            <a:endParaRPr lang="en-US" sz="650" dirty="0"/>
          </a:p>
        </p:txBody>
      </p:sp>
      <p:sp>
        <p:nvSpPr>
          <p:cNvPr id="39" name="Text 37"/>
          <p:cNvSpPr txBox="1"/>
          <p:nvPr/>
        </p:nvSpPr>
        <p:spPr>
          <a:xfrm>
            <a:off x="3840480" y="410565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브랜드가 캠페인과 상품 성과를 한눈에 관리할 수 있는 대시보드를 제공합니다.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902952" y="4096512"/>
            <a:ext cx="173736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902952" y="40965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 SaaS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9902952" y="4096512"/>
            <a:ext cx="1737360" cy="228600"/>
          </a:xfrm>
          <a:prstGeom prst="roundRect">
            <a:avLst>
              <a:gd name="adj" fmla="val 50000"/>
            </a:avLst>
          </a:prstGeom>
          <a:ln w="9525">
            <a:solidFill>
              <a:srgbClr val="E4E4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4517136"/>
            <a:ext cx="11091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8640" y="47457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960120" y="4709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제공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0" y="4745736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EEEEF1"/>
          </a:solidFill>
          <a:ln w="12700">
            <a:solidFill>
              <a:srgbClr val="EEEEF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200400" y="47457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</a:t>
            </a:r>
            <a:endParaRPr lang="en-US" sz="650" dirty="0"/>
          </a:p>
        </p:txBody>
      </p:sp>
      <p:sp>
        <p:nvSpPr>
          <p:cNvPr id="48" name="Text 46"/>
          <p:cNvSpPr txBox="1"/>
          <p:nvPr/>
        </p:nvSpPr>
        <p:spPr>
          <a:xfrm>
            <a:off x="3840480" y="472744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익명화된 판매·성과 데이터를 기업과 연구기관에 제공합니다.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902952" y="4718304"/>
            <a:ext cx="173736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902952" y="471830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/ 연구용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9902952" y="4718304"/>
            <a:ext cx="1737360" cy="228600"/>
          </a:xfrm>
          <a:prstGeom prst="roundRect">
            <a:avLst>
              <a:gd name="adj" fmla="val 50000"/>
            </a:avLst>
          </a:prstGeom>
          <a:ln w="9525">
            <a:solidFill>
              <a:srgbClr val="E4E4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8640" y="5138928"/>
            <a:ext cx="11091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48640" y="5440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 단계 순서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48640" y="5687568"/>
            <a:ext cx="2057400" cy="502920"/>
          </a:xfrm>
          <a:prstGeom prst="roundRect">
            <a:avLst>
              <a:gd name="adj" fmla="val 49091"/>
            </a:avLst>
          </a:prstGeom>
          <a:solidFill>
            <a:srgbClr val="FFEAF2"/>
          </a:solidFill>
          <a:ln w="9525">
            <a:solidFill>
              <a:srgbClr val="FFC2D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8640" y="573328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700" dirty="0"/>
          </a:p>
        </p:txBody>
      </p:sp>
      <p:sp>
        <p:nvSpPr>
          <p:cNvPr id="56" name="Text 54"/>
          <p:cNvSpPr txBox="1"/>
          <p:nvPr/>
        </p:nvSpPr>
        <p:spPr>
          <a:xfrm>
            <a:off x="548640" y="58978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수수료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2592324" y="58247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807208" y="5687568"/>
            <a:ext cx="2057400" cy="502920"/>
          </a:xfrm>
          <a:prstGeom prst="roundRect">
            <a:avLst>
              <a:gd name="adj" fmla="val 49091"/>
            </a:avLst>
          </a:prstGeom>
          <a:solidFill>
            <a:srgbClr val="FFEAF2"/>
          </a:solidFill>
          <a:ln w="9525">
            <a:solidFill>
              <a:srgbClr val="FFC2D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807208" y="573328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700" dirty="0"/>
          </a:p>
        </p:txBody>
      </p:sp>
      <p:sp>
        <p:nvSpPr>
          <p:cNvPr id="60" name="Text 58"/>
          <p:cNvSpPr txBox="1"/>
          <p:nvPr/>
        </p:nvSpPr>
        <p:spPr>
          <a:xfrm>
            <a:off x="2807208" y="58978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 정산 · 광고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4850892" y="58247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065776" y="5687568"/>
            <a:ext cx="205740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065776" y="573328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700" dirty="0"/>
          </a:p>
        </p:txBody>
      </p:sp>
      <p:sp>
        <p:nvSpPr>
          <p:cNvPr id="64" name="Text 62"/>
          <p:cNvSpPr txBox="1"/>
          <p:nvPr/>
        </p:nvSpPr>
        <p:spPr>
          <a:xfrm>
            <a:off x="5065776" y="58978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직접 제휴</a:t>
            </a:r>
            <a:endParaRPr lang="en-US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7109460" y="58247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324344" y="5687568"/>
            <a:ext cx="205740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324344" y="573328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</a:t>
            </a:r>
            <a:endParaRPr lang="en-US" sz="700" dirty="0"/>
          </a:p>
        </p:txBody>
      </p:sp>
      <p:sp>
        <p:nvSpPr>
          <p:cNvPr id="68" name="Text 66"/>
          <p:cNvSpPr txBox="1"/>
          <p:nvPr/>
        </p:nvSpPr>
        <p:spPr>
          <a:xfrm>
            <a:off x="7324344" y="58978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브랜드용 소프트웨어</a:t>
            </a:r>
            <a:endParaRPr lang="en-US" sz="850" dirty="0"/>
          </a:p>
        </p:txBody>
      </p:sp>
      <p:sp>
        <p:nvSpPr>
          <p:cNvPr id="69" name="Text 67"/>
          <p:cNvSpPr txBox="1"/>
          <p:nvPr/>
        </p:nvSpPr>
        <p:spPr>
          <a:xfrm>
            <a:off x="9368028" y="58247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9582912" y="5687568"/>
            <a:ext cx="205740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9582912" y="573328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5단계</a:t>
            </a:r>
            <a:endParaRPr lang="en-US" sz="700" dirty="0"/>
          </a:p>
        </p:txBody>
      </p:sp>
      <p:sp>
        <p:nvSpPr>
          <p:cNvPr id="72" name="Text 70"/>
          <p:cNvSpPr txBox="1"/>
          <p:nvPr/>
        </p:nvSpPr>
        <p:spPr>
          <a:xfrm>
            <a:off x="9582912" y="58978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사업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GO-TO-MARKET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25912" y="292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INVESTOR RELATIONS  ·  AUG 2026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10268712" y="6473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13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6928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제조사 제휴 → 인플루언서 협찬 → 콘텐츠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순서로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공급과 유저를 동시에 확보합니다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91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플랫폼의 콜드스타트를 풀기 위해, 팔 상품과 보여줄 콘텐츠를 우리가 먼저 만들어 놓고 유저를 모읍니다.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182880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286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810512" y="2240280"/>
            <a:ext cx="384048" cy="384048"/>
          </a:xfrm>
          <a:prstGeom prst="ellipse">
            <a:avLst/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524" y="2336292"/>
            <a:ext cx="192024" cy="19202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31520" y="2743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소형 화장품 제조사 제휴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2918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소규모 화장품 공장·브랜드와 제휴해 협찬 물량과 판매 수수료 조건을 확보합니다.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31520" y="4297680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EEEEF1"/>
          </a:solidFill>
          <a:ln w="12700">
            <a:solidFill>
              <a:srgbClr val="EEEEF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2976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공급 확보</a:t>
            </a:r>
            <a:endParaRPr lang="en-US" sz="700" dirty="0"/>
          </a:p>
        </p:txBody>
      </p:sp>
      <p:sp>
        <p:nvSpPr>
          <p:cNvPr id="18" name="Text 15"/>
          <p:cNvSpPr txBox="1"/>
          <p:nvPr/>
        </p:nvSpPr>
        <p:spPr>
          <a:xfrm>
            <a:off x="237744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606040" y="2103120"/>
            <a:ext cx="182880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788920" y="2286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867912" y="2240280"/>
            <a:ext cx="384048" cy="384048"/>
          </a:xfrm>
          <a:prstGeom prst="ellipse">
            <a:avLst/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924" y="2336292"/>
            <a:ext cx="192024" cy="19202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2788920" y="2743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 협찬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2788920" y="32918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제휴 제품을 뷰티 인플루언서에게 협찬하고, 사용 과정이 담긴 영상을 확보합니다.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2788920" y="4297680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EEEEF1"/>
          </a:solidFill>
          <a:ln w="12700">
            <a:solidFill>
              <a:srgbClr val="EEEEF1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2788920" y="42976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확보</a:t>
            </a:r>
            <a:endParaRPr lang="en-US" sz="700" dirty="0"/>
          </a:p>
        </p:txBody>
      </p:sp>
      <p:sp>
        <p:nvSpPr>
          <p:cNvPr id="27" name="Text 23"/>
          <p:cNvSpPr txBox="1"/>
          <p:nvPr/>
        </p:nvSpPr>
        <p:spPr>
          <a:xfrm>
            <a:off x="443484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663440" y="2103120"/>
            <a:ext cx="182880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846320" y="2286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5925312" y="2240280"/>
            <a:ext cx="384048" cy="384048"/>
          </a:xfrm>
          <a:prstGeom prst="ellipse">
            <a:avLst/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324" y="2336292"/>
            <a:ext cx="192024" cy="192024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4846320" y="2743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태그된 영상으로 유저 유입</a:t>
            </a:r>
            <a:endParaRPr lang="en-US" sz="1050" dirty="0"/>
          </a:p>
        </p:txBody>
      </p:sp>
      <p:sp>
        <p:nvSpPr>
          <p:cNvPr id="33" name="Text 28"/>
          <p:cNvSpPr txBox="1"/>
          <p:nvPr/>
        </p:nvSpPr>
        <p:spPr>
          <a:xfrm>
            <a:off x="4846320" y="32918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속 제품이 STS 위에서 바로 연결됩니다. 콘텐츠가 유입을 만들고 태그가 첫 거래를 만듭니다.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4846320" y="4297680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EEEEF1"/>
          </a:solidFill>
          <a:ln w="12700">
            <a:solidFill>
              <a:srgbClr val="EEEEF1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4846320" y="42976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유저풀 확대</a:t>
            </a:r>
            <a:endParaRPr lang="en-US" sz="700" dirty="0"/>
          </a:p>
        </p:txBody>
      </p:sp>
      <p:sp>
        <p:nvSpPr>
          <p:cNvPr id="36" name="Text 31"/>
          <p:cNvSpPr txBox="1"/>
          <p:nvPr/>
        </p:nvSpPr>
        <p:spPr>
          <a:xfrm>
            <a:off x="649224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720840" y="2103120"/>
            <a:ext cx="182880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6903720" y="2286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</a:t>
            </a:r>
            <a:endParaRPr lang="en-US" sz="750" dirty="0"/>
          </a:p>
        </p:txBody>
      </p:sp>
      <p:sp>
        <p:nvSpPr>
          <p:cNvPr id="39" name="Shape 34"/>
          <p:cNvSpPr/>
          <p:nvPr/>
        </p:nvSpPr>
        <p:spPr>
          <a:xfrm>
            <a:off x="7982712" y="2240280"/>
            <a:ext cx="384048" cy="384048"/>
          </a:xfrm>
          <a:prstGeom prst="ellipse">
            <a:avLst/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724" y="2336292"/>
            <a:ext cx="192024" cy="192024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6903720" y="2743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수수료 → 광고로 수익화</a:t>
            </a:r>
            <a:endParaRPr lang="en-US" sz="1050" dirty="0"/>
          </a:p>
        </p:txBody>
      </p:sp>
      <p:sp>
        <p:nvSpPr>
          <p:cNvPr id="42" name="Text 36"/>
          <p:cNvSpPr txBox="1"/>
          <p:nvPr/>
        </p:nvSpPr>
        <p:spPr>
          <a:xfrm>
            <a:off x="6903720" y="32918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거래가 쌓이면 판매 수수료가, 유저가 쌓이면 브랜드 광고 상품이 붙습니다.</a:t>
            </a:r>
            <a:endParaRPr lang="en-US" sz="800" dirty="0"/>
          </a:p>
        </p:txBody>
      </p:sp>
      <p:sp>
        <p:nvSpPr>
          <p:cNvPr id="43" name="Shape 37"/>
          <p:cNvSpPr/>
          <p:nvPr/>
        </p:nvSpPr>
        <p:spPr>
          <a:xfrm>
            <a:off x="6903720" y="4297680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6903720" y="42976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수익화</a:t>
            </a:r>
            <a:endParaRPr lang="en-US" sz="700" dirty="0"/>
          </a:p>
        </p:txBody>
      </p:sp>
      <p:sp>
        <p:nvSpPr>
          <p:cNvPr id="45" name="Shape 39"/>
          <p:cNvSpPr/>
          <p:nvPr/>
        </p:nvSpPr>
        <p:spPr>
          <a:xfrm>
            <a:off x="548640" y="4892040"/>
            <a:ext cx="8001000" cy="1280160"/>
          </a:xfrm>
          <a:prstGeom prst="roundRect">
            <a:avLst>
              <a:gd name="adj" fmla="val 8571"/>
            </a:avLst>
          </a:prstGeom>
          <a:solidFill>
            <a:srgbClr val="15151A"/>
          </a:solidFill>
          <a:ln w="12700">
            <a:solidFill>
              <a:srgbClr val="15151A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822960" y="5074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 순서인가</a:t>
            </a:r>
            <a:endParaRPr lang="en-US" sz="750" dirty="0"/>
          </a:p>
        </p:txBody>
      </p:sp>
      <p:sp>
        <p:nvSpPr>
          <p:cNvPr id="47" name="Text 41"/>
          <p:cNvSpPr txBox="1"/>
          <p:nvPr/>
        </p:nvSpPr>
        <p:spPr>
          <a:xfrm>
            <a:off x="822960" y="5321808"/>
            <a:ext cx="7452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상품이 없으면 태그할 게 없고, 콘텐츠가 없으면 볼 사람이 없습니다. </a:t>
            </a:r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소형 제조사는 노출이 절실하고 협찬 단가가 낮아 초기 제휴가 빠릅니다. 인플루언서는 제품과 수익 배분을 동시에 받으니 참여 동기가 분명합니다. 그렇게 확보한 “태그된 영상”이 STS의 첫 화면이자 첫 거래가 됩니다.</a:t>
            </a:r>
            <a:endParaRPr lang="en-US" sz="850" dirty="0"/>
          </a:p>
        </p:txBody>
      </p:sp>
      <p:sp>
        <p:nvSpPr>
          <p:cNvPr id="48" name="Shape 42"/>
          <p:cNvSpPr/>
          <p:nvPr/>
        </p:nvSpPr>
        <p:spPr>
          <a:xfrm>
            <a:off x="8823960" y="2103120"/>
            <a:ext cx="2816352" cy="406908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9098280" y="23042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구조</a:t>
            </a:r>
            <a:endParaRPr lang="en-US" sz="750" dirty="0"/>
          </a:p>
        </p:txBody>
      </p:sp>
      <p:sp>
        <p:nvSpPr>
          <p:cNvPr id="50" name="Text 44"/>
          <p:cNvSpPr txBox="1"/>
          <p:nvPr/>
        </p:nvSpPr>
        <p:spPr>
          <a:xfrm>
            <a:off x="909828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수수료</a:t>
            </a:r>
            <a:endParaRPr lang="en-US" sz="1200" dirty="0"/>
          </a:p>
        </p:txBody>
      </p:sp>
      <p:sp>
        <p:nvSpPr>
          <p:cNvPr id="51" name="Shape 45"/>
          <p:cNvSpPr/>
          <p:nvPr/>
        </p:nvSpPr>
        <p:spPr>
          <a:xfrm>
            <a:off x="10863072" y="264261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10863072" y="26426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</a:t>
            </a:r>
            <a:endParaRPr lang="en-US" sz="650" dirty="0"/>
          </a:p>
        </p:txBody>
      </p:sp>
      <p:sp>
        <p:nvSpPr>
          <p:cNvPr id="53" name="Text 47"/>
          <p:cNvSpPr txBox="1"/>
          <p:nvPr/>
        </p:nvSpPr>
        <p:spPr>
          <a:xfrm>
            <a:off x="9098280" y="29260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 콘텐츠에서 발생한 거래의 일정 비율</a:t>
            </a:r>
            <a:endParaRPr lang="en-US" sz="800" dirty="0"/>
          </a:p>
        </p:txBody>
      </p:sp>
      <p:sp>
        <p:nvSpPr>
          <p:cNvPr id="54" name="Shape 48"/>
          <p:cNvSpPr/>
          <p:nvPr/>
        </p:nvSpPr>
        <p:spPr>
          <a:xfrm>
            <a:off x="9098280" y="3410712"/>
            <a:ext cx="226771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909828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광고</a:t>
            </a:r>
            <a:endParaRPr lang="en-US" sz="1200" dirty="0"/>
          </a:p>
        </p:txBody>
      </p:sp>
      <p:sp>
        <p:nvSpPr>
          <p:cNvPr id="56" name="Shape 50"/>
          <p:cNvSpPr/>
          <p:nvPr/>
        </p:nvSpPr>
        <p:spPr>
          <a:xfrm>
            <a:off x="10863072" y="360273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57" name="Text 51"/>
          <p:cNvSpPr txBox="1"/>
          <p:nvPr/>
        </p:nvSpPr>
        <p:spPr>
          <a:xfrm>
            <a:off x="10863072" y="360273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</a:t>
            </a:r>
            <a:endParaRPr lang="en-US" sz="650" dirty="0"/>
          </a:p>
        </p:txBody>
      </p:sp>
      <p:sp>
        <p:nvSpPr>
          <p:cNvPr id="58" name="Text 52"/>
          <p:cNvSpPr txBox="1"/>
          <p:nvPr/>
        </p:nvSpPr>
        <p:spPr>
          <a:xfrm>
            <a:off x="9098280" y="388620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제휴 브랜드·제조사의 노출 광고 상품</a:t>
            </a:r>
            <a:endParaRPr lang="en-US" sz="800" dirty="0"/>
          </a:p>
        </p:txBody>
      </p:sp>
      <p:sp>
        <p:nvSpPr>
          <p:cNvPr id="59" name="Shape 53"/>
          <p:cNvSpPr/>
          <p:nvPr/>
        </p:nvSpPr>
        <p:spPr>
          <a:xfrm>
            <a:off x="9098280" y="4370832"/>
            <a:ext cx="226771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909828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· 도구</a:t>
            </a:r>
            <a:endParaRPr lang="en-US" sz="1200" dirty="0"/>
          </a:p>
        </p:txBody>
      </p:sp>
      <p:sp>
        <p:nvSpPr>
          <p:cNvPr id="61" name="Shape 55"/>
          <p:cNvSpPr/>
          <p:nvPr/>
        </p:nvSpPr>
        <p:spPr>
          <a:xfrm>
            <a:off x="10863072" y="456285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EEEEF1"/>
          </a:solidFill>
          <a:ln w="12700">
            <a:solidFill>
              <a:srgbClr val="EEEEF1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10863072" y="45628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</a:t>
            </a:r>
            <a:endParaRPr lang="en-US" sz="650" dirty="0"/>
          </a:p>
        </p:txBody>
      </p:sp>
      <p:sp>
        <p:nvSpPr>
          <p:cNvPr id="63" name="Text 57"/>
          <p:cNvSpPr txBox="1"/>
          <p:nvPr/>
        </p:nvSpPr>
        <p:spPr>
          <a:xfrm>
            <a:off x="9098280" y="48463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도구, 대시보드, 데이터 제공</a:t>
            </a:r>
            <a:endParaRPr lang="en-US" sz="800" dirty="0"/>
          </a:p>
        </p:txBody>
      </p:sp>
      <p:sp>
        <p:nvSpPr>
          <p:cNvPr id="64" name="Shape 58"/>
          <p:cNvSpPr/>
          <p:nvPr/>
        </p:nvSpPr>
        <p:spPr>
          <a:xfrm>
            <a:off x="9098280" y="5486400"/>
            <a:ext cx="2267712" cy="457200"/>
          </a:xfrm>
          <a:prstGeom prst="roundRect">
            <a:avLst>
              <a:gd name="adj" fmla="val 16000"/>
            </a:avLst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sp>
        <p:nvSpPr>
          <p:cNvPr id="65" name="Text 59"/>
          <p:cNvSpPr txBox="1"/>
          <p:nvPr/>
        </p:nvSpPr>
        <p:spPr>
          <a:xfrm>
            <a:off x="9098280" y="548640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파트너: 소형 화장품 제조사 + 뷰티 인플루언서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MARKET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25912" y="292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INVESTOR RELATIONS  ·  AUG 2026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10268712" y="6473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13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6928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시장은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동남아 K-뷰티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콘텐츠 커머스입니다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91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소셜 커머스 시장은 방대하지만, STS는 크리에이터 기반 제휴 커머스를 동남아 K-뷰티 카테고리에서 시작합니다.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6949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EEEEF1"/>
          </a:solidFill>
          <a:ln w="12700">
            <a:solidFill>
              <a:srgbClr val="EEEEF1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2446020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71600" y="23042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전체 시장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소셜 커머스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23042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규모</a:t>
            </a:r>
            <a:endParaRPr lang="en-US" sz="6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2468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$1.48T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760720" y="23591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세계 소셜 커머스 시장, 지속 성장 중</a:t>
            </a:r>
            <a:endParaRPr lang="en-US" sz="750" dirty="0"/>
          </a:p>
        </p:txBody>
      </p:sp>
      <p:sp>
        <p:nvSpPr>
          <p:cNvPr id="18" name="Text 15"/>
          <p:cNvSpPr txBox="1"/>
          <p:nvPr/>
        </p:nvSpPr>
        <p:spPr>
          <a:xfrm>
            <a:off x="3886200" y="3017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48640" y="3200400"/>
            <a:ext cx="6949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EEEEF1"/>
          </a:solidFill>
          <a:ln w="12700">
            <a:solidFill>
              <a:srgbClr val="EEEEF1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3543300"/>
            <a:ext cx="228600" cy="2286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371600" y="34015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실행 가능한 시장</a:t>
            </a:r>
            <a:endParaRPr lang="en-US" sz="750" dirty="0"/>
          </a:p>
        </p:txBody>
      </p:sp>
      <p:sp>
        <p:nvSpPr>
          <p:cNvPr id="23" name="Text 19"/>
          <p:cNvSpPr txBox="1"/>
          <p:nvPr/>
        </p:nvSpPr>
        <p:spPr>
          <a:xfrm>
            <a:off x="137160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 기반 제휴 커머스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4572000" y="34015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규모</a:t>
            </a:r>
            <a:endParaRPr lang="en-US" sz="650" dirty="0"/>
          </a:p>
        </p:txBody>
      </p:sp>
      <p:sp>
        <p:nvSpPr>
          <p:cNvPr id="25" name="Text 21"/>
          <p:cNvSpPr txBox="1"/>
          <p:nvPr/>
        </p:nvSpPr>
        <p:spPr>
          <a:xfrm>
            <a:off x="4572000" y="3566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$23.9B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5760720" y="34564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 콘텐츠와 커머스가 결합된 시장</a:t>
            </a:r>
            <a:endParaRPr lang="en-US" sz="750" dirty="0"/>
          </a:p>
        </p:txBody>
      </p:sp>
      <p:sp>
        <p:nvSpPr>
          <p:cNvPr id="27" name="Text 23"/>
          <p:cNvSpPr txBox="1"/>
          <p:nvPr/>
        </p:nvSpPr>
        <p:spPr>
          <a:xfrm>
            <a:off x="3886200" y="4114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548640" y="4297680"/>
            <a:ext cx="6949440" cy="914400"/>
          </a:xfrm>
          <a:prstGeom prst="roundRect">
            <a:avLst>
              <a:gd name="adj" fmla="val 12000"/>
            </a:avLst>
          </a:prstGeom>
          <a:solidFill>
            <a:srgbClr val="FFEAF2"/>
          </a:solidFill>
          <a:ln w="9525">
            <a:solidFill>
              <a:srgbClr val="FFC2D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31520" y="4526280"/>
            <a:ext cx="457200" cy="457200"/>
          </a:xfrm>
          <a:prstGeom prst="ellipse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4640580"/>
            <a:ext cx="228600" cy="22860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371600" y="44988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첫 진입 시장</a:t>
            </a:r>
            <a:endParaRPr lang="en-US" sz="750" dirty="0"/>
          </a:p>
        </p:txBody>
      </p:sp>
      <p:sp>
        <p:nvSpPr>
          <p:cNvPr id="32" name="Text 27"/>
          <p:cNvSpPr txBox="1"/>
          <p:nvPr/>
        </p:nvSpPr>
        <p:spPr>
          <a:xfrm>
            <a:off x="1371600" y="4709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동남아 K-뷰티 콘텐츠 커머스</a:t>
            </a:r>
            <a:endParaRPr lang="en-US" sz="1150" dirty="0"/>
          </a:p>
        </p:txBody>
      </p:sp>
      <p:sp>
        <p:nvSpPr>
          <p:cNvPr id="33" name="Text 28"/>
          <p:cNvSpPr txBox="1"/>
          <p:nvPr/>
        </p:nvSpPr>
        <p:spPr>
          <a:xfrm>
            <a:off x="4572000" y="44988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규모</a:t>
            </a:r>
            <a:endParaRPr lang="en-US" sz="650" dirty="0"/>
          </a:p>
        </p:txBody>
      </p:sp>
      <p:sp>
        <p:nvSpPr>
          <p:cNvPr id="34" name="Text 29"/>
          <p:cNvSpPr txBox="1"/>
          <p:nvPr/>
        </p:nvSpPr>
        <p:spPr>
          <a:xfrm>
            <a:off x="4572000" y="4663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$3.2B</a:t>
            </a:r>
            <a:endParaRPr lang="en-US" sz="1500" dirty="0"/>
          </a:p>
        </p:txBody>
      </p:sp>
      <p:sp>
        <p:nvSpPr>
          <p:cNvPr id="35" name="Text 30"/>
          <p:cNvSpPr txBox="1"/>
          <p:nvPr/>
        </p:nvSpPr>
        <p:spPr>
          <a:xfrm>
            <a:off x="5760720" y="45537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동남아 지역의 K-뷰티 관심과 쇼핑 수요에서 시작</a:t>
            </a:r>
            <a:endParaRPr lang="en-US" sz="750" dirty="0"/>
          </a:p>
        </p:txBody>
      </p:sp>
      <p:sp>
        <p:nvSpPr>
          <p:cNvPr id="36" name="Shape 31"/>
          <p:cNvSpPr/>
          <p:nvPr/>
        </p:nvSpPr>
        <p:spPr>
          <a:xfrm>
            <a:off x="548640" y="5440680"/>
            <a:ext cx="6949440" cy="457200"/>
          </a:xfrm>
          <a:prstGeom prst="roundRect">
            <a:avLst>
              <a:gd name="adj" fmla="val 20000"/>
            </a:avLst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586984"/>
            <a:ext cx="164592" cy="164592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1005840" y="54406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검증된 수요 × 명확한 타깃 × 높은 실행 가능성으로 빠르게 엔진을 구축합니다.</a:t>
            </a:r>
            <a:endParaRPr lang="en-US" sz="850" dirty="0"/>
          </a:p>
        </p:txBody>
      </p:sp>
      <p:sp>
        <p:nvSpPr>
          <p:cNvPr id="39" name="Text 33"/>
          <p:cNvSpPr txBox="1"/>
          <p:nvPr/>
        </p:nvSpPr>
        <p:spPr>
          <a:xfrm>
            <a:off x="548640" y="603504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시장 수치는 인용된 리서치 기준의 추정치이며, 환율 및 통화에 따라 차이가 있을 수 있습니다.</a:t>
            </a:r>
            <a:endParaRPr lang="en-US" sz="650" dirty="0"/>
          </a:p>
        </p:txBody>
      </p:sp>
      <p:sp>
        <p:nvSpPr>
          <p:cNvPr id="40" name="Shape 34"/>
          <p:cNvSpPr/>
          <p:nvPr/>
        </p:nvSpPr>
        <p:spPr>
          <a:xfrm>
            <a:off x="7772400" y="2103120"/>
            <a:ext cx="3867912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8001000" y="2286000"/>
            <a:ext cx="3410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성장 전망 (연평균 성장률)</a:t>
            </a:r>
            <a:endParaRPr lang="en-US" sz="750" dirty="0"/>
          </a:p>
        </p:txBody>
      </p:sp>
      <p:sp>
        <p:nvSpPr>
          <p:cNvPr id="42" name="Text 36"/>
          <p:cNvSpPr txBox="1"/>
          <p:nvPr/>
        </p:nvSpPr>
        <p:spPr>
          <a:xfrm>
            <a:off x="8001000" y="2606040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소셜 커머스</a:t>
            </a:r>
            <a:endParaRPr lang="en-US" sz="750" dirty="0"/>
          </a:p>
        </p:txBody>
      </p:sp>
      <p:sp>
        <p:nvSpPr>
          <p:cNvPr id="43" name="Text 37"/>
          <p:cNvSpPr txBox="1"/>
          <p:nvPr/>
        </p:nvSpPr>
        <p:spPr>
          <a:xfrm>
            <a:off x="8001000" y="2788920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 → 2029</a:t>
            </a:r>
            <a:endParaRPr lang="en-US" sz="650" dirty="0"/>
          </a:p>
        </p:txBody>
      </p:sp>
      <p:sp>
        <p:nvSpPr>
          <p:cNvPr id="44" name="Text 38"/>
          <p:cNvSpPr txBox="1"/>
          <p:nvPr/>
        </p:nvSpPr>
        <p:spPr>
          <a:xfrm>
            <a:off x="10771632" y="2606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28%</a:t>
            </a:r>
            <a:endParaRPr lang="en-US" sz="1200" dirty="0"/>
          </a:p>
        </p:txBody>
      </p:sp>
      <p:sp>
        <p:nvSpPr>
          <p:cNvPr id="45" name="Shape 39"/>
          <p:cNvSpPr/>
          <p:nvPr/>
        </p:nvSpPr>
        <p:spPr>
          <a:xfrm>
            <a:off x="8001000" y="3017520"/>
            <a:ext cx="3410712" cy="54864"/>
          </a:xfrm>
          <a:prstGeom prst="roundRect">
            <a:avLst>
              <a:gd name="adj" fmla="val 50000"/>
            </a:avLst>
          </a:prstGeom>
          <a:solidFill>
            <a:srgbClr val="EEEEF1"/>
          </a:solidFill>
          <a:ln w="12700">
            <a:solidFill>
              <a:srgbClr val="EEEEF1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8001000" y="3017520"/>
            <a:ext cx="2387498" cy="54864"/>
          </a:xfrm>
          <a:prstGeom prst="roundRect">
            <a:avLst>
              <a:gd name="adj" fmla="val 50000"/>
            </a:avLst>
          </a:prstGeom>
          <a:solidFill>
            <a:srgbClr val="3A3A42"/>
          </a:solidFill>
          <a:ln w="12700">
            <a:solidFill>
              <a:srgbClr val="3A3A42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8001000" y="3291840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 기반 제휴 커머스</a:t>
            </a:r>
            <a:endParaRPr lang="en-US" sz="750" dirty="0"/>
          </a:p>
        </p:txBody>
      </p:sp>
      <p:sp>
        <p:nvSpPr>
          <p:cNvPr id="48" name="Text 42"/>
          <p:cNvSpPr txBox="1"/>
          <p:nvPr/>
        </p:nvSpPr>
        <p:spPr>
          <a:xfrm>
            <a:off x="8001000" y="3474720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 → 2029</a:t>
            </a:r>
            <a:endParaRPr lang="en-US" sz="650" dirty="0"/>
          </a:p>
        </p:txBody>
      </p:sp>
      <p:sp>
        <p:nvSpPr>
          <p:cNvPr id="49" name="Text 43"/>
          <p:cNvSpPr txBox="1"/>
          <p:nvPr/>
        </p:nvSpPr>
        <p:spPr>
          <a:xfrm>
            <a:off x="10771632" y="3291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31%</a:t>
            </a:r>
            <a:endParaRPr lang="en-US" sz="1200" dirty="0"/>
          </a:p>
        </p:txBody>
      </p:sp>
      <p:sp>
        <p:nvSpPr>
          <p:cNvPr id="50" name="Shape 44"/>
          <p:cNvSpPr/>
          <p:nvPr/>
        </p:nvSpPr>
        <p:spPr>
          <a:xfrm>
            <a:off x="8001000" y="3703320"/>
            <a:ext cx="3410712" cy="54864"/>
          </a:xfrm>
          <a:prstGeom prst="roundRect">
            <a:avLst>
              <a:gd name="adj" fmla="val 50000"/>
            </a:avLst>
          </a:prstGeom>
          <a:solidFill>
            <a:srgbClr val="EEEEF1"/>
          </a:solidFill>
          <a:ln w="12700">
            <a:solidFill>
              <a:srgbClr val="EEEEF1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8001000" y="3703320"/>
            <a:ext cx="2660355" cy="54864"/>
          </a:xfrm>
          <a:prstGeom prst="roundRect">
            <a:avLst>
              <a:gd name="adj" fmla="val 50000"/>
            </a:avLst>
          </a:prstGeom>
          <a:solidFill>
            <a:srgbClr val="3A3A42"/>
          </a:solidFill>
          <a:ln w="12700">
            <a:solidFill>
              <a:srgbClr val="3A3A42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7909560" y="3904488"/>
            <a:ext cx="3593592" cy="640080"/>
          </a:xfrm>
          <a:prstGeom prst="roundRect">
            <a:avLst>
              <a:gd name="adj" fmla="val 11429"/>
            </a:avLst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8001000" y="3977640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동남아 K-뷰티 콘텐츠 커머스</a:t>
            </a:r>
            <a:endParaRPr lang="en-US" sz="750" dirty="0"/>
          </a:p>
        </p:txBody>
      </p:sp>
      <p:sp>
        <p:nvSpPr>
          <p:cNvPr id="54" name="Text 48"/>
          <p:cNvSpPr txBox="1"/>
          <p:nvPr/>
        </p:nvSpPr>
        <p:spPr>
          <a:xfrm>
            <a:off x="8001000" y="4160520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 → 2029</a:t>
            </a:r>
            <a:endParaRPr lang="en-US" sz="650" dirty="0"/>
          </a:p>
        </p:txBody>
      </p:sp>
      <p:sp>
        <p:nvSpPr>
          <p:cNvPr id="55" name="Text 49"/>
          <p:cNvSpPr txBox="1"/>
          <p:nvPr/>
        </p:nvSpPr>
        <p:spPr>
          <a:xfrm>
            <a:off x="10771632" y="3977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34%</a:t>
            </a:r>
            <a:endParaRPr lang="en-US" sz="1200" dirty="0"/>
          </a:p>
        </p:txBody>
      </p:sp>
      <p:sp>
        <p:nvSpPr>
          <p:cNvPr id="56" name="Shape 50"/>
          <p:cNvSpPr/>
          <p:nvPr/>
        </p:nvSpPr>
        <p:spPr>
          <a:xfrm>
            <a:off x="8001000" y="4389120"/>
            <a:ext cx="3410712" cy="54864"/>
          </a:xfrm>
          <a:prstGeom prst="roundRect">
            <a:avLst>
              <a:gd name="adj" fmla="val 50000"/>
            </a:avLst>
          </a:prstGeom>
          <a:solidFill>
            <a:srgbClr val="EEEEF1"/>
          </a:solidFill>
          <a:ln w="12700">
            <a:solidFill>
              <a:srgbClr val="EEEEF1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8001000" y="4389120"/>
            <a:ext cx="2899105" cy="54864"/>
          </a:xfrm>
          <a:prstGeom prst="roundRect">
            <a:avLst>
              <a:gd name="adj" fmla="val 50000"/>
            </a:avLst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8001000" y="4709160"/>
            <a:ext cx="3410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동남아 K-뷰티인가? (다음 장에서 자세히)</a:t>
            </a:r>
            <a:endParaRPr lang="en-US" sz="750" dirty="0"/>
          </a:p>
        </p:txBody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4965192"/>
            <a:ext cx="146304" cy="146304"/>
          </a:xfrm>
          <a:prstGeom prst="rect">
            <a:avLst/>
          </a:prstGeom>
        </p:spPr>
      </p:pic>
      <p:sp>
        <p:nvSpPr>
          <p:cNvPr id="60" name="Text 53"/>
          <p:cNvSpPr txBox="1"/>
          <p:nvPr/>
        </p:nvSpPr>
        <p:spPr>
          <a:xfrm>
            <a:off x="8229600" y="4937760"/>
            <a:ext cx="3182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K-뷰티에 대한 높은 관심과 충성도</a:t>
            </a:r>
            <a:endParaRPr lang="en-US" sz="750" dirty="0"/>
          </a:p>
        </p:txBody>
      </p:sp>
      <p:pic>
        <p:nvPicPr>
          <p:cNvPr id="6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5212080"/>
            <a:ext cx="146304" cy="146304"/>
          </a:xfrm>
          <a:prstGeom prst="rect">
            <a:avLst/>
          </a:prstGeom>
        </p:spPr>
      </p:pic>
      <p:sp>
        <p:nvSpPr>
          <p:cNvPr id="62" name="Text 54"/>
          <p:cNvSpPr txBox="1"/>
          <p:nvPr/>
        </p:nvSpPr>
        <p:spPr>
          <a:xfrm>
            <a:off x="8229600" y="5184648"/>
            <a:ext cx="3182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모바일 쇼핑 &amp; 소셜 플랫폼 사용률 세계 최고 수준</a:t>
            </a:r>
            <a:endParaRPr lang="en-US" sz="750" dirty="0"/>
          </a:p>
        </p:txBody>
      </p:sp>
      <p:pic>
        <p:nvPicPr>
          <p:cNvPr id="6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5458968"/>
            <a:ext cx="146304" cy="146304"/>
          </a:xfrm>
          <a:prstGeom prst="rect">
            <a:avLst/>
          </a:prstGeom>
        </p:spPr>
      </p:pic>
      <p:sp>
        <p:nvSpPr>
          <p:cNvPr id="64" name="Text 55"/>
          <p:cNvSpPr txBox="1"/>
          <p:nvPr/>
        </p:nvSpPr>
        <p:spPr>
          <a:xfrm>
            <a:off x="8229600" y="5431536"/>
            <a:ext cx="3182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 생태계와 커머스 전환 가속화</a:t>
            </a:r>
            <a:endParaRPr lang="en-US" sz="750" dirty="0"/>
          </a:p>
        </p:txBody>
      </p:sp>
      <p:sp>
        <p:nvSpPr>
          <p:cNvPr id="65" name="Text 56"/>
          <p:cNvSpPr txBox="1"/>
          <p:nvPr/>
        </p:nvSpPr>
        <p:spPr>
          <a:xfrm>
            <a:off x="8001000" y="5687568"/>
            <a:ext cx="3410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Grand View Research, Statista, Redseer, KOTRA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SOUTHEAST ASIA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25912" y="292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9525">
            <a:solidFill>
              <a:srgbClr val="E4E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INVESTOR RELATIONS  ·  AUG 2026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10268712" y="6473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13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6928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동남아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이고, 왜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뷰티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인가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280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수요가 이미 검증돼 있고, 소셜로 사는 습관이 있고, 경쟁 공백이 있으며, ‘과정’이 중요한 카테고리라서입니다.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214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" y="2217420"/>
            <a:ext cx="192024" cy="19202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78992" y="2103120"/>
            <a:ext cx="4681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수요가 이미 검증된 시장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078992" y="2340864"/>
            <a:ext cx="4681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동남아는 K-뷰티 콘텐츠와 제품에 대한 관심이 높고 성장세가 가장 빠른 지역입니다. 우리가 수요를 만들 필요 없이, 있는 수요를 연결하면 됩니다.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48640" y="294436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" y="3040380"/>
            <a:ext cx="192024" cy="19202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78992" y="2926080"/>
            <a:ext cx="4681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소셜에서 보고 모바일로 사는 습관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078992" y="3163824"/>
            <a:ext cx="4681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소셜·라이브 커머스 비중이 높아 “콘텐츠를 보다가 바로 산다”는 행동이 이미 자연스럽습니다. STS의 경험 곡선이 가장 짧습니다.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548640" y="37673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" y="3863340"/>
            <a:ext cx="192024" cy="1920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78992" y="3749040"/>
            <a:ext cx="4681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소형 K-뷰티 브랜드의 노출 공백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078992" y="3986784"/>
            <a:ext cx="4681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인지도 없는 소형 제조사도 크리에이터 영상에서 발견되면 팔립니다. 제조사 제휴 → 인플루언서 협찬 전략과 정확히 맞물립니다.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548640" y="459028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4686300"/>
            <a:ext cx="192024" cy="19202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78992" y="4572000"/>
            <a:ext cx="4681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경쟁사가 비어 있는 자리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78992" y="4809744"/>
            <a:ext cx="4681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LTK 등 링크 기반 서비스는 북미 패션 중심이고, TikTok Shop은 자기 플랫폼 안에 갇혀 있습니다. 동남아 K-뷰티를 SNS 전반에서 연결하는 레이어는 없습니다.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548640" y="541324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" y="5509260"/>
            <a:ext cx="192024" cy="19202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078992" y="5394960"/>
            <a:ext cx="4681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뷰티는 ‘과정’이 중요한 카테고리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1078992" y="5632704"/>
            <a:ext cx="4681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완성된 룩만 보면 어떤 제품을 어떻게 썼는지 알 수 없습니다. 부위를 터치해 사용 과정과 제품을 바로 보여주는 STS 경험이 가장 잘 맞습니다.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6080760" y="2103120"/>
            <a:ext cx="5559552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9525">
            <a:solidFill>
              <a:srgbClr val="E4E4E8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6309360" y="2286000"/>
            <a:ext cx="5102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 BEAUTY  ·  Reveal the Process</a:t>
            </a:r>
            <a:endParaRPr lang="en-US" sz="750" dirty="0"/>
          </a:p>
        </p:txBody>
      </p:sp>
      <p:sp>
        <p:nvSpPr>
          <p:cNvPr id="32" name="Text 25"/>
          <p:cNvSpPr txBox="1"/>
          <p:nvPr/>
        </p:nvSpPr>
        <p:spPr>
          <a:xfrm>
            <a:off x="6309360" y="2487168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7A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완성된 룩에서 궁금한 부위를 터치하면 실제 사용 과정과 제품을 확인하고 바로 구매할 수 있어요.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7063740" y="2834640"/>
            <a:ext cx="3593592" cy="2395728"/>
          </a:xfrm>
          <a:prstGeom prst="roundRect">
            <a:avLst>
              <a:gd name="adj" fmla="val 3053"/>
            </a:avLst>
          </a:prstGeom>
          <a:solidFill>
            <a:srgbClr val="F6F6F7"/>
          </a:solidFill>
          <a:ln w="9525">
            <a:solidFill>
              <a:srgbClr val="E4E4E8"/>
            </a:solidFill>
            <a:prstDash val="dash"/>
          </a:ln>
        </p:spPr>
      </p:sp>
      <p:sp>
        <p:nvSpPr>
          <p:cNvPr id="34" name="Text 27"/>
          <p:cNvSpPr txBox="1"/>
          <p:nvPr/>
        </p:nvSpPr>
        <p:spPr>
          <a:xfrm>
            <a:off x="7063740" y="2834640"/>
            <a:ext cx="3593592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STS BEAUTY 화면 예시 이미지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0A0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(이미지 파일 전달 시 이 자리에 삽입)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7063740" y="5367528"/>
            <a:ext cx="829818" cy="237744"/>
          </a:xfrm>
          <a:prstGeom prst="roundRect">
            <a:avLst>
              <a:gd name="adj" fmla="val 50000"/>
            </a:avLst>
          </a:prstGeom>
          <a:solidFill>
            <a:srgbClr val="EEEEF1"/>
          </a:solidFill>
          <a:ln w="12700">
            <a:solidFill>
              <a:srgbClr val="EEEEF1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7063740" y="5367528"/>
            <a:ext cx="829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피드 · 완성된 룩</a:t>
            </a:r>
            <a:endParaRPr lang="en-US" sz="650" dirty="0"/>
          </a:p>
        </p:txBody>
      </p:sp>
      <p:sp>
        <p:nvSpPr>
          <p:cNvPr id="37" name="Shape 30"/>
          <p:cNvSpPr/>
          <p:nvPr/>
        </p:nvSpPr>
        <p:spPr>
          <a:xfrm>
            <a:off x="7984998" y="5367528"/>
            <a:ext cx="829818" cy="237744"/>
          </a:xfrm>
          <a:prstGeom prst="roundRect">
            <a:avLst>
              <a:gd name="adj" fmla="val 50000"/>
            </a:avLst>
          </a:prstGeom>
          <a:solidFill>
            <a:srgbClr val="EEEEF1"/>
          </a:solidFill>
          <a:ln w="12700">
            <a:solidFill>
              <a:srgbClr val="EEEEF1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7984998" y="5367528"/>
            <a:ext cx="829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부위 터치 · 과정 공개</a:t>
            </a:r>
            <a:endParaRPr lang="en-US" sz="650" dirty="0"/>
          </a:p>
        </p:txBody>
      </p:sp>
      <p:sp>
        <p:nvSpPr>
          <p:cNvPr id="39" name="Shape 32"/>
          <p:cNvSpPr/>
          <p:nvPr/>
        </p:nvSpPr>
        <p:spPr>
          <a:xfrm>
            <a:off x="8906256" y="5367528"/>
            <a:ext cx="829818" cy="237744"/>
          </a:xfrm>
          <a:prstGeom prst="roundRect">
            <a:avLst>
              <a:gd name="adj" fmla="val 50000"/>
            </a:avLst>
          </a:prstGeom>
          <a:solidFill>
            <a:srgbClr val="EEEEF1"/>
          </a:solidFill>
          <a:ln w="12700">
            <a:solidFill>
              <a:srgbClr val="EEEEF1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8906256" y="5367528"/>
            <a:ext cx="829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타임라인 · 과정 선택</a:t>
            </a:r>
            <a:endParaRPr lang="en-US" sz="650" dirty="0"/>
          </a:p>
        </p:txBody>
      </p:sp>
      <p:sp>
        <p:nvSpPr>
          <p:cNvPr id="41" name="Shape 34"/>
          <p:cNvSpPr/>
          <p:nvPr/>
        </p:nvSpPr>
        <p:spPr>
          <a:xfrm>
            <a:off x="9827514" y="5367528"/>
            <a:ext cx="829818" cy="237744"/>
          </a:xfrm>
          <a:prstGeom prst="roundRect">
            <a:avLst>
              <a:gd name="adj" fmla="val 50000"/>
            </a:avLst>
          </a:prstGeom>
          <a:solidFill>
            <a:srgbClr val="EEEEF1"/>
          </a:solidFill>
          <a:ln w="12700">
            <a:solidFill>
              <a:srgbClr val="EEEEF1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9827514" y="5367528"/>
            <a:ext cx="829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과정 시청 + 제품 정보</a:t>
            </a:r>
            <a:endParaRPr lang="en-US" sz="650" dirty="0"/>
          </a:p>
        </p:txBody>
      </p:sp>
      <p:sp>
        <p:nvSpPr>
          <p:cNvPr id="43" name="Shape 36"/>
          <p:cNvSpPr/>
          <p:nvPr/>
        </p:nvSpPr>
        <p:spPr>
          <a:xfrm>
            <a:off x="7063740" y="5678424"/>
            <a:ext cx="829818" cy="237744"/>
          </a:xfrm>
          <a:prstGeom prst="roundRect">
            <a:avLst>
              <a:gd name="adj" fmla="val 50000"/>
            </a:avLst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7063740" y="5678424"/>
            <a:ext cx="829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전체 제품 보기</a:t>
            </a:r>
            <a:endParaRPr lang="en-US" sz="650" dirty="0"/>
          </a:p>
        </p:txBody>
      </p:sp>
      <p:sp>
        <p:nvSpPr>
          <p:cNvPr id="45" name="Shape 38"/>
          <p:cNvSpPr/>
          <p:nvPr/>
        </p:nvSpPr>
        <p:spPr>
          <a:xfrm>
            <a:off x="7984998" y="5678424"/>
            <a:ext cx="829818" cy="237744"/>
          </a:xfrm>
          <a:prstGeom prst="roundRect">
            <a:avLst>
              <a:gd name="adj" fmla="val 50000"/>
            </a:avLst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7984998" y="5678424"/>
            <a:ext cx="829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루틴 한번에 담기</a:t>
            </a:r>
            <a:endParaRPr lang="en-US" sz="650" dirty="0"/>
          </a:p>
        </p:txBody>
      </p:sp>
      <p:sp>
        <p:nvSpPr>
          <p:cNvPr id="47" name="Shape 40"/>
          <p:cNvSpPr/>
          <p:nvPr/>
        </p:nvSpPr>
        <p:spPr>
          <a:xfrm>
            <a:off x="8906256" y="5678424"/>
            <a:ext cx="829818" cy="237744"/>
          </a:xfrm>
          <a:prstGeom prst="roundRect">
            <a:avLst>
              <a:gd name="adj" fmla="val 50000"/>
            </a:avLst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8906256" y="5678424"/>
            <a:ext cx="829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 유사 컬러 추천</a:t>
            </a:r>
            <a:endParaRPr lang="en-US" sz="650" dirty="0"/>
          </a:p>
        </p:txBody>
      </p:sp>
      <p:sp>
        <p:nvSpPr>
          <p:cNvPr id="49" name="Shape 42"/>
          <p:cNvSpPr/>
          <p:nvPr/>
        </p:nvSpPr>
        <p:spPr>
          <a:xfrm>
            <a:off x="9827514" y="5678424"/>
            <a:ext cx="829818" cy="237744"/>
          </a:xfrm>
          <a:prstGeom prst="roundRect">
            <a:avLst>
              <a:gd name="adj" fmla="val 50000"/>
            </a:avLst>
          </a:prstGeom>
          <a:solidFill>
            <a:srgbClr val="FFEAF2"/>
          </a:solidFill>
          <a:ln w="12700">
            <a:solidFill>
              <a:srgbClr val="FFEAF2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9827514" y="5678424"/>
            <a:ext cx="829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2D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 구매 완료 · 수익 정산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STS IR Deck</dc:title>
  <dc:subject>PptxGenJS Presentation</dc:subject>
  <dc:creator>STS</dc:creator>
  <cp:lastModifiedBy>STS</cp:lastModifiedBy>
  <cp:revision>1</cp:revision>
  <dcterms:created xsi:type="dcterms:W3CDTF">2026-09-04T07:00:31Z</dcterms:created>
  <dcterms:modified xsi:type="dcterms:W3CDTF">2026-09-04T07:00:31Z</dcterms:modified>
</cp:coreProperties>
</file>